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83cdf54-c713-16e3-a987-19c54b8ddeee}">
          <p14:sldIdLst>
            <p14:sldId id="256"/>
            <p14:sldId id="257"/>
            <p14:sldId id="258"/>
            <p14:sldId id="259"/>
          </p14:sldIdLst>
        </p14:section>
        <p14:section name="Tier 1" id="{d4573b43-4846-342b-58ed-c30843036f91}">
          <p14:sldIdLst>
            <p14:sldId id="260"/>
            <p14:sldId id="261"/>
            <p14:sldId id="262"/>
            <p14:sldId id="263"/>
          </p14:sldIdLst>
        </p14:section>
        <p14:section name="Tier 2" id="{969db642-e84f-c553-af0e-d4d2b2d23d6f}">
          <p14:sldIdLst>
            <p14:sldId id="264"/>
            <p14:sldId id="265"/>
            <p14:sldId id="266"/>
            <p14:sldId id="267"/>
            <p14:sldId id="268"/>
          </p14:sldIdLst>
        </p14:section>
        <p14:section name="Tier 3" id="{31b3d0a1-46b1-2a08-1d47-ce070d730986}">
          <p14:sldIdLst>
            <p14:sldId id="269"/>
            <p14:sldId id="270"/>
            <p14:sldId id="271"/>
            <p14:sldId id="272"/>
            <p14:sldId id="273"/>
            <p14:sldId id="274"/>
          </p14:sldIdLst>
        </p14:section>
        <p14:section name="Conclusions" id="{e427805e-1ac9-6ff3-ce13-043001bbb6a8}">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textbooks sometimes say the trabeculae carneae stop the ventricular walls from sticking together by suction. This talk asks whether that claim survives being written as physics, and tests it at three levels of fidelity.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Restate the textbook claim as a mechanism. The h to the minus three dependence is the whole story: a smooth wall that empties to a few tenths of a millimetre would need tens of mmHg to reopen at physiological speeds, far above the early diastolic driving gradient of about 2.5 mmHg.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simulation literature on trabeculae is small and recent. It looks at pressure drop, shear and vortices in rigid or open cavities, or at embryonic morphogenesis. Nobody has modelled the near contact regime where the suction claim would apply, so there is no prior quantitative test to build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1 asks whether grooves matter at all. Tier 2 asks whether the benefit survives inside a whole ventricle, with washout and filling. Tier 3 asks whether the mechanism holds in 3D, with inertia, and when the walls are opened by a recoil stress rather than 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opening speed, same 0.2 mm crest gap. The smooth wall builds a single bowl of suction peaking near 49 mmHg. The groove network breaks the film into small islands, each drained by the grooves around it, so the peak falls to well under 1 mmHg.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crossover with the early diastolic gradient sits near half a millimetre. Below that a smooth wall needs more than the available driving pressure; trabecular grooving keeps the film at or below about 1 mmHg down to 0.2 mm.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Coarse grooves leave large islands of film; very fine grooves become narrow ducts that cannot carry the inflow. Depth matters more than roughness: a groove needs to be about five gaps deep for a thirty fold relief.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volume matched control reframes the hypothesis: trabeculae are not the most volume efficient way to avoid suction. What they might do is let the crests come into near contact while keeping drainage open. Whether that beats simply emptying less needs filling and washout, which only a whole ventricle can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volume matched control has the same end diastolic and end systolic cavity areas as the trabeculated ventricle, so it isolates the effect of the recesses from the effect of emptying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three things as it plays: the shear layers on the walls during ejection, the vortex ring shed by the mitral jet in early filling, and the small vortices that peel off the apical slit as it reopens. In the trabeculated ventricle the ridges break up the near wall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the smooth wall that empties to the same gap, trabeculae remove a 6 to 36 mmHg film penalty with identical washout. Against the volume matched wall, they cost about 8 percent more diastolic energy and more dissipation, but leave about 17 percent less old blood after three beats.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old blood lingers at the apex in all three. The trabecular ridges stir the near wall layer, so the recesses hold less old blood at end diastole than the smooth control’s equivalent layer, even though flow inside them is slower. The video uses the coarser grid; the quoted numbers are from the production 0.25 mm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closure assumes the walls follow the prescribed motion no matter what the film does. Tier 3 removes that assumption and finds the smooth apex cannot actually keep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fixes, the effective wall sat up to 0.85 cells off the surface, which alone was worth a factor of two in film force because force scales as h to the minus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walls start 0.6 mm apart and are pulled by the same 2 mmHg recoil. The smooth film develops a deep bowl of suction across the whole patch and holds the walls back; the groove network breaks the film into islands and lets them separate sooner.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3D answer to the Tier 2 artifact. In the 2D ventricle, opposing ridges dammed the apical slit. In 3D the grooves form a connected network open to the cavity, so the film drains along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takeaways. Tier 1 is right for a smooth wall at low Reynolds number, and inertia then cuts the suction rather than adding to it. And in 3D the trabecular recesses drain; the dammed slit seen in the 2D Tier 2 slice is an artifact of the slice.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validation that licenses carrying the reduced model to physiological gaps, which no grid here can resolve.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Pressure driven, the smooth wall’s penalty shows up as delay, not just suction. At 2 mmHg and a 0.1 mm gap its apex is still only 0.2 mm open at peak filling. Tier 2’s prescribed motion for that ventricle was physically unreachable; the trabeculated and volume matched walls both open faster than Tier 2 assumed, so their results 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strongest defensible form of the textbook claim. Not “trabeculae prevent suction”, but “trabeculae permit near apposition without adhesion”.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important unknown is how close real apical walls come at end systole. Everything hinges on whether that gap falls below about half a millimetre.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references were retrieved and checked on PubMed in October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video" Target="../media/media-12-1.mp4"/><Relationship Id="rId2" Type="http://schemas.microsoft.com/office/2007/relationships/media" Target="../media/media-12-1.mp4"/><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video" Target="../media/media-15-1.mp4"/><Relationship Id="rId2" Type="http://schemas.microsoft.com/office/2007/relationships/media" Target="../media/media-15-1.mp4"/><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video" Target="../media/media-16-1.mp4"/><Relationship Id="rId2" Type="http://schemas.microsoft.com/office/2007/relationships/media" Target="../media/media-16-1.mp4"/><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cover text"/>
          <p:cNvSpPr txBox="1"/>
          <p:nvPr/>
        </p:nvSpPr>
        <p:spPr>
          <a:xfrm>
            <a:off x="812800" y="2380655"/>
            <a:ext cx="10566400" cy="1366441"/>
          </a:xfrm>
          <a:prstGeom prst="rect">
            <a:avLst/>
          </a:prstGeom>
          <a:noFill/>
          <a:ln/>
        </p:spPr>
        <p:txBody>
          <a:bodyPr wrap="square" lIns="0" tIns="0" rIns="0" bIns="0" rtlCol="0" anchor="t"/>
          <a:lstStyle/>
          <a:p>
            <a:pPr algn="l" indent="0" marL="0">
              <a:lnSpc>
                <a:spcPts val="5280"/>
              </a:lnSpc>
              <a:buNone/>
            </a:pPr>
            <a:r>
              <a:rPr lang="en-US" sz="4800" b="1" dirty="0">
                <a:solidFill>
                  <a:srgbClr val="000000"/>
                </a:solidFill>
                <a:latin typeface="Times New Roman" pitchFamily="34" charset="0"/>
                <a:ea typeface="Times New Roman" pitchFamily="34" charset="-122"/>
                <a:cs typeface="Times New Roman" pitchFamily="34" charset="-120"/>
              </a:rPr>
              <a:t>Do trabeculae keep the heart from sticking?</a:t>
            </a:r>
            <a:endParaRPr lang="en-US" sz="4800" dirty="0"/>
          </a:p>
        </p:txBody>
      </p:sp>
      <p:sp>
        <p:nvSpPr>
          <p:cNvPr id="3" name="Shape 1"/>
          <p:cNvSpPr/>
          <p:nvPr/>
        </p:nvSpPr>
        <p:spPr>
          <a:xfrm>
            <a:off x="812800" y="3975695"/>
            <a:ext cx="1524000" cy="12700"/>
          </a:xfrm>
          <a:prstGeom prst="rect">
            <a:avLst/>
          </a:prstGeom>
          <a:solidFill>
            <a:srgbClr val="000000"/>
          </a:solidFill>
          <a:ln w="12700">
            <a:solidFill>
              <a:srgbClr val="000000"/>
            </a:solidFill>
            <a:prstDash val="solid"/>
          </a:ln>
        </p:spPr>
      </p:sp>
      <p:sp>
        <p:nvSpPr>
          <p:cNvPr id="4" name="cover text"/>
          <p:cNvSpPr txBox="1"/>
          <p:nvPr/>
        </p:nvSpPr>
        <p:spPr>
          <a:xfrm>
            <a:off x="812800" y="4242395"/>
            <a:ext cx="10566400" cy="260350"/>
          </a:xfrm>
          <a:prstGeom prst="rect">
            <a:avLst/>
          </a:prstGeom>
          <a:noFill/>
          <a:ln/>
        </p:spPr>
        <p:txBody>
          <a:bodyPr wrap="square" lIns="0" tIns="0" rIns="0" bIns="0" rtlCol="0" anchor="t"/>
          <a:lstStyle/>
          <a:p>
            <a:pPr algn="l" indent="0" marL="0">
              <a:lnSpc>
                <a:spcPts val="1840"/>
              </a:lnSpc>
              <a:buNone/>
            </a:pPr>
            <a:r>
              <a:rPr lang="en-US" sz="1600" dirty="0">
                <a:solidFill>
                  <a:srgbClr val="000000"/>
                </a:solidFill>
                <a:latin typeface="Times New Roman" pitchFamily="34" charset="0"/>
                <a:ea typeface="Times New Roman" pitchFamily="34" charset="-122"/>
                <a:cs typeface="Times New Roman" pitchFamily="34" charset="-120"/>
              </a:rPr>
              <a:t>Thomas Chia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question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problem setup</a:t>
            </a:r>
            <a:endParaRPr lang="en-US" sz="3200" dirty="0"/>
          </a:p>
        </p:txBody>
      </p:sp>
      <p:sp>
        <p:nvSpPr>
          <p:cNvPr id="3" name="question text"/>
          <p:cNvSpPr txBox="1"/>
          <p:nvPr/>
        </p:nvSpPr>
        <p:spPr>
          <a:xfrm>
            <a:off x="812800" y="1584920"/>
            <a:ext cx="6435852" cy="825500"/>
          </a:xfrm>
          <a:prstGeom prst="rect">
            <a:avLst/>
          </a:prstGeom>
          <a:noFill/>
          <a:ln/>
        </p:spPr>
        <p:txBody>
          <a:bodyPr wrap="square" lIns="0" tIns="0" rIns="0" bIns="0" rtlCol="0" anchor="t"/>
          <a:lstStyle/>
          <a:p>
            <a:pPr algn="l" indent="0" marL="0">
              <a:lnSpc>
                <a:spcPts val="2100"/>
              </a:lnSpc>
              <a:buNone/>
            </a:pPr>
            <a:r>
              <a:rPr lang="en-US" sz="1500" dirty="0">
                <a:solidFill>
                  <a:srgbClr val="000000"/>
                </a:solidFill>
                <a:latin typeface="Times New Roman" pitchFamily="34" charset="0"/>
                <a:ea typeface="Times New Roman" pitchFamily="34" charset="-122"/>
                <a:cs typeface="Times New Roman" pitchFamily="34" charset="-120"/>
              </a:rPr>
              <a:t>The textbook claim: trabeculae keep the ventricle walls from sticking together, the way a suction cup sticks to glass. As far as we can find, nobody has actually tested it.</a:t>
            </a:r>
            <a:endParaRPr lang="en-US" sz="1500" dirty="0"/>
          </a:p>
        </p:txBody>
      </p:sp>
      <p:sp>
        <p:nvSpPr>
          <p:cNvPr id="4" name="question text"/>
          <p:cNvSpPr txBox="1"/>
          <p:nvPr/>
        </p:nvSpPr>
        <p:spPr>
          <a:xfrm>
            <a:off x="812800" y="2537420"/>
            <a:ext cx="6435852" cy="825500"/>
          </a:xfrm>
          <a:prstGeom prst="rect">
            <a:avLst/>
          </a:prstGeom>
          <a:noFill/>
          <a:ln/>
        </p:spPr>
        <p:txBody>
          <a:bodyPr wrap="square" lIns="0" tIns="0" rIns="0" bIns="0" rtlCol="0" anchor="t"/>
          <a:lstStyle/>
          <a:p>
            <a:pPr algn="l" indent="0" marL="0">
              <a:lnSpc>
                <a:spcPts val="2100"/>
              </a:lnSpc>
              <a:buNone/>
            </a:pPr>
            <a:r>
              <a:rPr lang="en-US" sz="1500" dirty="0">
                <a:solidFill>
                  <a:srgbClr val="000000"/>
                </a:solidFill>
                <a:latin typeface="Times New Roman" pitchFamily="34" charset="0"/>
                <a:ea typeface="Times New Roman" pitchFamily="34" charset="-122"/>
                <a:cs typeface="Times New Roman" pitchFamily="34" charset="-120"/>
              </a:rPr>
              <a:t>At end systole the walls near the apex come within a fraction of a millimetre of each other. In early diastole they have to separate, and blood, a viscous fluid, has to flow sideways into that thin gap.</a:t>
            </a:r>
            <a:endParaRPr lang="en-US" sz="1500" dirty="0"/>
          </a:p>
        </p:txBody>
      </p:sp>
      <p:sp>
        <p:nvSpPr>
          <p:cNvPr id="5" name="question text"/>
          <p:cNvSpPr txBox="1"/>
          <p:nvPr/>
        </p:nvSpPr>
        <p:spPr>
          <a:xfrm>
            <a:off x="812800" y="3489920"/>
            <a:ext cx="6435852" cy="825500"/>
          </a:xfrm>
          <a:prstGeom prst="rect">
            <a:avLst/>
          </a:prstGeom>
          <a:noFill/>
          <a:ln/>
        </p:spPr>
        <p:txBody>
          <a:bodyPr wrap="square" lIns="0" tIns="0" rIns="0" bIns="0" rtlCol="0" anchor="t"/>
          <a:lstStyle/>
          <a:p>
            <a:pPr algn="l" indent="0" marL="0">
              <a:lnSpc>
                <a:spcPts val="2100"/>
              </a:lnSpc>
              <a:buNone/>
            </a:pPr>
            <a:r>
              <a:rPr lang="en-US" sz="1500" dirty="0">
                <a:solidFill>
                  <a:srgbClr val="000000"/>
                </a:solidFill>
                <a:latin typeface="Times New Roman" pitchFamily="34" charset="0"/>
                <a:ea typeface="Times New Roman" pitchFamily="34" charset="-122"/>
                <a:cs typeface="Times New Roman" pitchFamily="34" charset="-120"/>
              </a:rPr>
              <a:t>Physically this is a squeeze film (Stefan adhesion), the reason two wet glass slides are hard to pull apart. The pressure needed grows with the inverse cube of the gap, so halving the gap makes opening eight times harder.</a:t>
            </a:r>
            <a:endParaRPr lang="en-US" sz="1500" dirty="0"/>
          </a:p>
        </p:txBody>
      </p:sp>
      <p:sp>
        <p:nvSpPr>
          <p:cNvPr id="6" name="question text"/>
          <p:cNvSpPr txBox="1"/>
          <p:nvPr/>
        </p:nvSpPr>
        <p:spPr>
          <a:xfrm>
            <a:off x="812800" y="4442420"/>
            <a:ext cx="6435852" cy="558800"/>
          </a:xfrm>
          <a:prstGeom prst="rect">
            <a:avLst/>
          </a:prstGeom>
          <a:noFill/>
          <a:ln/>
        </p:spPr>
        <p:txBody>
          <a:bodyPr wrap="square" lIns="0" tIns="0" rIns="0" bIns="0" rtlCol="0" anchor="t"/>
          <a:lstStyle/>
          <a:p>
            <a:pPr algn="l" indent="0" marL="0">
              <a:lnSpc>
                <a:spcPts val="2100"/>
              </a:lnSpc>
              <a:buNone/>
            </a:pPr>
            <a:r>
              <a:rPr lang="en-US" sz="1500" dirty="0">
                <a:solidFill>
                  <a:srgbClr val="000000"/>
                </a:solidFill>
                <a:latin typeface="Times New Roman" pitchFamily="34" charset="0"/>
                <a:ea typeface="Times New Roman" pitchFamily="34" charset="-122"/>
                <a:cs typeface="Times New Roman" pitchFamily="34" charset="-120"/>
              </a:rPr>
              <a:t>Hypothesis: the grooves between trabeculae act as drainage channels, so blood only travels a short distance across each ridge instead of across the whole wall.</a:t>
            </a:r>
            <a:endParaRPr lang="en-US" sz="1500" dirty="0"/>
          </a:p>
        </p:txBody>
      </p:sp>
      <p:sp>
        <p:nvSpPr>
          <p:cNvPr id="7" name="Shape 5"/>
          <p:cNvSpPr/>
          <p:nvPr/>
        </p:nvSpPr>
        <p:spPr>
          <a:xfrm>
            <a:off x="7569200" y="1584920"/>
            <a:ext cx="3810000" cy="3319363"/>
          </a:xfrm>
          <a:prstGeom prst="rect">
            <a:avLst/>
          </a:prstGeom>
          <a:ln w="12700">
            <a:solidFill>
              <a:srgbClr val="000000"/>
            </a:solidFill>
            <a:prstDash val="solid"/>
          </a:ln>
        </p:spPr>
      </p:sp>
      <p:sp>
        <p:nvSpPr>
          <p:cNvPr id="8" name="question text"/>
          <p:cNvSpPr txBox="1"/>
          <p:nvPr/>
        </p:nvSpPr>
        <p:spPr>
          <a:xfrm>
            <a:off x="7861300" y="1877020"/>
            <a:ext cx="3322574" cy="196850"/>
          </a:xfrm>
          <a:prstGeom prst="rect">
            <a:avLst/>
          </a:prstGeom>
          <a:noFill/>
          <a:ln/>
        </p:spPr>
        <p:txBody>
          <a:bodyPr wrap="square" lIns="0" tIns="0" rIns="0" bIns="0" rtlCol="0" anchor="t"/>
          <a:lstStyle/>
          <a:p>
            <a:pPr algn="l" indent="0" marL="0">
              <a:lnSpc>
                <a:spcPts val="1380"/>
              </a:lnSpc>
              <a:buNone/>
            </a:pPr>
            <a:r>
              <a:rPr lang="en-US" sz="1200" spc="150" kern="0" dirty="0">
                <a:solidFill>
                  <a:srgbClr val="000000"/>
                </a:solidFill>
                <a:latin typeface="Times New Roman" pitchFamily="34" charset="0"/>
                <a:ea typeface="Times New Roman" pitchFamily="34" charset="-122"/>
                <a:cs typeface="Times New Roman" pitchFamily="34" charset="-120"/>
              </a:rPr>
              <a:t>SMOOTH DISK, RADIUS R, GAP H</a:t>
            </a:r>
            <a:endParaRPr lang="en-US" sz="1200" dirty="0"/>
          </a:p>
        </p:txBody>
      </p:sp>
      <p:sp>
        <p:nvSpPr>
          <p:cNvPr id="9" name="question text"/>
          <p:cNvSpPr txBox="1"/>
          <p:nvPr/>
        </p:nvSpPr>
        <p:spPr>
          <a:xfrm>
            <a:off x="7861300" y="2175470"/>
            <a:ext cx="3322574" cy="463550"/>
          </a:xfrm>
          <a:prstGeom prst="rect">
            <a:avLst/>
          </a:prstGeom>
          <a:noFill/>
          <a:ln/>
        </p:spPr>
        <p:txBody>
          <a:bodyPr wrap="square" lIns="0" tIns="0" rIns="0" bIns="0" rtlCol="0" anchor="t"/>
          <a:lstStyle/>
          <a:p>
            <a:pPr algn="ctr" indent="0" marL="0">
              <a:lnSpc>
                <a:spcPts val="3450"/>
              </a:lnSpc>
              <a:buNone/>
            </a:pPr>
            <a:r>
              <a:rPr lang="en-US" sz="3000" i="1" dirty="0">
                <a:solidFill>
                  <a:srgbClr val="000000"/>
                </a:solidFill>
                <a:latin typeface="Times New Roman" pitchFamily="34" charset="0"/>
                <a:ea typeface="Times New Roman" pitchFamily="34" charset="-122"/>
                <a:cs typeface="Times New Roman" pitchFamily="34" charset="-120"/>
              </a:rPr>
              <a:t>Δp ≈ 3μR²ḣ / h³</a:t>
            </a:r>
            <a:endParaRPr lang="en-US" sz="3000" dirty="0"/>
          </a:p>
        </p:txBody>
      </p:sp>
      <p:sp>
        <p:nvSpPr>
          <p:cNvPr id="10" name="question text"/>
          <p:cNvSpPr txBox="1"/>
          <p:nvPr/>
        </p:nvSpPr>
        <p:spPr>
          <a:xfrm>
            <a:off x="7861300" y="2740620"/>
            <a:ext cx="3322574" cy="487561"/>
          </a:xfrm>
          <a:prstGeom prst="rect">
            <a:avLst/>
          </a:prstGeom>
          <a:noFill/>
          <a:ln/>
        </p:spPr>
        <p:txBody>
          <a:bodyPr wrap="square" lIns="0" tIns="0" rIns="0" bIns="0" rtlCol="0" anchor="t"/>
          <a:lstStyle/>
          <a:p>
            <a:pPr algn="l" indent="0" marL="0">
              <a:lnSpc>
                <a:spcPts val="1820"/>
              </a:lnSpc>
              <a:buNone/>
            </a:pPr>
            <a:r>
              <a:rPr lang="en-US" sz="1300" dirty="0">
                <a:solidFill>
                  <a:srgbClr val="000000"/>
                </a:solidFill>
                <a:latin typeface="Times New Roman" pitchFamily="34" charset="0"/>
                <a:ea typeface="Times New Roman" pitchFamily="34" charset="-122"/>
                <a:cs typeface="Times New Roman" pitchFamily="34" charset="-120"/>
              </a:rPr>
              <a:t>Δp is the suction needed to open the gap, μ the blood viscosity and ḣ the opening speed.</a:t>
            </a:r>
            <a:endParaRPr lang="en-US" sz="1300" dirty="0"/>
          </a:p>
        </p:txBody>
      </p:sp>
      <p:sp>
        <p:nvSpPr>
          <p:cNvPr id="11" name="question text"/>
          <p:cNvSpPr txBox="1"/>
          <p:nvPr/>
        </p:nvSpPr>
        <p:spPr>
          <a:xfrm>
            <a:off x="7861300" y="3329781"/>
            <a:ext cx="3322574" cy="718641"/>
          </a:xfrm>
          <a:prstGeom prst="rect">
            <a:avLst/>
          </a:prstGeom>
          <a:noFill/>
          <a:ln/>
        </p:spPr>
        <p:txBody>
          <a:bodyPr wrap="square" lIns="0" tIns="0" rIns="0" bIns="0" rtlCol="0" anchor="t"/>
          <a:lstStyle/>
          <a:p>
            <a:pPr algn="l" indent="0" marL="0">
              <a:lnSpc>
                <a:spcPts val="1820"/>
              </a:lnSpc>
              <a:buNone/>
            </a:pPr>
            <a:r>
              <a:rPr lang="en-US" sz="1300" dirty="0">
                <a:solidFill>
                  <a:srgbClr val="000000"/>
                </a:solidFill>
                <a:latin typeface="Times New Roman" pitchFamily="34" charset="0"/>
                <a:ea typeface="Times New Roman" pitchFamily="34" charset="-122"/>
                <a:cs typeface="Times New Roman" pitchFamily="34" charset="-120"/>
              </a:rPr>
              <a:t>μ = 3.5 mPa·s, R = 10 mm, ḣ = 5 cm/s:</a:t>
            </a:r>
            <a:endParaRPr lang="en-US" sz="1300" dirty="0"/>
          </a:p>
          <a:p>
            <a:pPr algn="l" indent="0" marL="0">
              <a:lnSpc>
                <a:spcPts val="1820"/>
              </a:lnSpc>
              <a:buNone/>
            </a:pPr>
            <a:r>
              <a:rPr lang="en-US" sz="1300" dirty="0">
                <a:solidFill>
                  <a:srgbClr val="000000"/>
                </a:solidFill>
                <a:latin typeface="Times New Roman" pitchFamily="34" charset="0"/>
                <a:ea typeface="Times New Roman" pitchFamily="34" charset="-122"/>
                <a:cs typeface="Times New Roman" pitchFamily="34" charset="-120"/>
              </a:rPr>
              <a:t>h = 0.5 mm gives about 3 mmHg</a:t>
            </a:r>
            <a:endParaRPr lang="en-US" sz="1300" dirty="0"/>
          </a:p>
          <a:p>
            <a:pPr algn="l" indent="0" marL="0">
              <a:lnSpc>
                <a:spcPts val="1820"/>
              </a:lnSpc>
              <a:buNone/>
            </a:pPr>
            <a:r>
              <a:rPr lang="en-US" sz="1300" dirty="0">
                <a:solidFill>
                  <a:srgbClr val="000000"/>
                </a:solidFill>
                <a:latin typeface="Times New Roman" pitchFamily="34" charset="0"/>
                <a:ea typeface="Times New Roman" pitchFamily="34" charset="-122"/>
                <a:cs typeface="Times New Roman" pitchFamily="34" charset="-120"/>
              </a:rPr>
              <a:t>h = 0.2 mm gives about 49 mmHg</a:t>
            </a:r>
            <a:endParaRPr lang="en-US" sz="1300" dirty="0"/>
          </a:p>
        </p:txBody>
      </p:sp>
      <p:sp>
        <p:nvSpPr>
          <p:cNvPr id="12" name="question text"/>
          <p:cNvSpPr txBox="1"/>
          <p:nvPr/>
        </p:nvSpPr>
        <p:spPr>
          <a:xfrm>
            <a:off x="7861300" y="4150023"/>
            <a:ext cx="3322574" cy="487561"/>
          </a:xfrm>
          <a:prstGeom prst="rect">
            <a:avLst/>
          </a:prstGeom>
          <a:noFill/>
          <a:ln/>
        </p:spPr>
        <p:txBody>
          <a:bodyPr wrap="square" lIns="0" tIns="0" rIns="0" bIns="0" rtlCol="0" anchor="t"/>
          <a:lstStyle/>
          <a:p>
            <a:pPr algn="l" indent="0" marL="0">
              <a:lnSpc>
                <a:spcPts val="1820"/>
              </a:lnSpc>
              <a:buNone/>
            </a:pPr>
            <a:r>
              <a:rPr lang="en-US" sz="1300" dirty="0">
                <a:solidFill>
                  <a:srgbClr val="000000"/>
                </a:solidFill>
                <a:latin typeface="Times New Roman" pitchFamily="34" charset="0"/>
                <a:ea typeface="Times New Roman" pitchFamily="34" charset="-122"/>
                <a:cs typeface="Times New Roman" pitchFamily="34" charset="-120"/>
              </a:rPr>
              <a:t>For scale, early diastole only has about 2.5 mmHg available to pull blood toward the apex.</a:t>
            </a:r>
            <a:endParaRPr lang="en-US" sz="1300" dirty="0"/>
          </a:p>
        </p:txBody>
      </p:sp>
      <p:sp>
        <p:nvSpPr>
          <p:cNvPr id="13" name="question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background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Prior work never tests the suction role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12800" y="1508720"/>
          <a:ext cx="10566400" cy="914400"/>
        </p:xfrm>
        <a:graphic>
          <a:graphicData uri="http://schemas.openxmlformats.org/drawingml/2006/table">
            <a:tbl>
              <a:tblPr/>
              <a:tblGrid>
                <a:gridCol w="3169841"/>
                <a:gridCol w="4649192"/>
                <a:gridCol w="2747367"/>
              </a:tblGrid>
              <a:tr h="190500">
                <a:tc>
                  <a:txBody>
                    <a:bodyPr/>
                    <a:lstStyle/>
                    <a:p>
                      <a:pPr algn="l" indent="0" marL="0">
                        <a:buNone/>
                      </a:pPr>
                      <a:r>
                        <a:rPr lang="en-US" sz="1300" b="1" dirty="0">
                          <a:solidFill>
                            <a:srgbClr val="000000"/>
                          </a:solidFill>
                          <a:latin typeface="Times New Roman" pitchFamily="34" charset="0"/>
                          <a:ea typeface="Times New Roman" pitchFamily="34" charset="-122"/>
                          <a:cs typeface="Times New Roman" pitchFamily="34" charset="-120"/>
                        </a:rPr>
                        <a:t>Study</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b="1" dirty="0">
                          <a:solidFill>
                            <a:srgbClr val="000000"/>
                          </a:solidFill>
                          <a:latin typeface="Times New Roman" pitchFamily="34" charset="0"/>
                          <a:ea typeface="Times New Roman" pitchFamily="34" charset="-122"/>
                          <a:cs typeface="Times New Roman" pitchFamily="34" charset="-120"/>
                        </a:rPr>
                        <a:t>What was modelled</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b="1" dirty="0">
                          <a:solidFill>
                            <a:srgbClr val="000000"/>
                          </a:solidFill>
                          <a:latin typeface="Times New Roman" pitchFamily="34" charset="0"/>
                          <a:ea typeface="Times New Roman" pitchFamily="34" charset="-122"/>
                          <a:cs typeface="Times New Roman" pitchFamily="34" charset="-120"/>
                        </a:rPr>
                        <a:t>Walls near apposition?</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Kulp et al. 2011, MICCAI</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CT driven LV flow around trabeculae, visualisation</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No</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Lantz et al. 2016, J Biomech Eng</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Patient CFD with papillary muscles and trabeculae</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No</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Paun et al. 2017, IJNMBE</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Ellipsoid geometry: trabeculae and stroke volume, no flow</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No</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Sacco et al. 2018, Front Physiol</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Rigid wall LV CFD, detailed vs smoothed endocardium</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No (rigid walls)</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Vedula 2017; Lee 2018; Battista 2018</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Embryonic flow and how trabeculae form</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No</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Meyer et al. 2020, Nature</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Trabecular complexity, genetics and performance</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No film model</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bl>
          </a:graphicData>
        </a:graphic>
      </p:graphicFrame>
      <p:sp>
        <p:nvSpPr>
          <p:cNvPr id="4" name="background text"/>
          <p:cNvSpPr txBox="1"/>
          <p:nvPr/>
        </p:nvSpPr>
        <p:spPr>
          <a:xfrm>
            <a:off x="812800" y="3070820"/>
            <a:ext cx="10566400"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Across PubMed, only 18 records pair trabeculae with CFD or intraventricular flow in the left ventricle. They study rigid or wide open cavities, or how trabeculae form in the embryo. None models the thin film between walls that are nearly touching, which is exactly where the suction claim would apply.</a:t>
            </a:r>
            <a:endParaRPr lang="en-US" sz="1400" dirty="0"/>
          </a:p>
        </p:txBody>
      </p:sp>
      <p:sp>
        <p:nvSpPr>
          <p:cNvPr id="5" name="background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3 · PubMed searches, October 2026; full references on the last slide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approach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Three tiers of fidelity</a:t>
            </a:r>
            <a:endParaRPr lang="en-US" sz="3200" dirty="0"/>
          </a:p>
        </p:txBody>
      </p:sp>
      <p:sp>
        <p:nvSpPr>
          <p:cNvPr id="3" name="Shape 1"/>
          <p:cNvSpPr/>
          <p:nvPr/>
        </p:nvSpPr>
        <p:spPr>
          <a:xfrm>
            <a:off x="812800" y="1534120"/>
            <a:ext cx="3352800" cy="25400"/>
          </a:xfrm>
          <a:prstGeom prst="rect">
            <a:avLst/>
          </a:prstGeom>
          <a:solidFill>
            <a:srgbClr val="000000"/>
          </a:solidFill>
          <a:ln w="12700">
            <a:solidFill>
              <a:srgbClr val="000000"/>
            </a:solidFill>
            <a:prstDash val="solid"/>
          </a:ln>
        </p:spPr>
      </p:sp>
      <p:sp>
        <p:nvSpPr>
          <p:cNvPr id="4" name="approach text"/>
          <p:cNvSpPr txBox="1"/>
          <p:nvPr/>
        </p:nvSpPr>
        <p:spPr>
          <a:xfrm>
            <a:off x="812800" y="1737320"/>
            <a:ext cx="3453384" cy="196850"/>
          </a:xfrm>
          <a:prstGeom prst="rect">
            <a:avLst/>
          </a:prstGeom>
          <a:noFill/>
          <a:ln/>
        </p:spPr>
        <p:txBody>
          <a:bodyPr wrap="square" lIns="0" tIns="0" rIns="0" bIns="0" rtlCol="0" anchor="t"/>
          <a:lstStyle/>
          <a:p>
            <a:pPr algn="l" indent="0" marL="0">
              <a:lnSpc>
                <a:spcPts val="1380"/>
              </a:lnSpc>
              <a:buNone/>
            </a:pPr>
            <a:r>
              <a:rPr lang="en-US" sz="1200" spc="150" kern="0" dirty="0">
                <a:solidFill>
                  <a:srgbClr val="000000"/>
                </a:solidFill>
                <a:latin typeface="Times New Roman" pitchFamily="34" charset="0"/>
                <a:ea typeface="Times New Roman" pitchFamily="34" charset="-122"/>
                <a:cs typeface="Times New Roman" pitchFamily="34" charset="-120"/>
              </a:rPr>
              <a:t>TIER 1</a:t>
            </a:r>
            <a:endParaRPr lang="en-US" sz="1200" dirty="0"/>
          </a:p>
        </p:txBody>
      </p:sp>
      <p:sp>
        <p:nvSpPr>
          <p:cNvPr id="5" name="approach text"/>
          <p:cNvSpPr txBox="1"/>
          <p:nvPr/>
        </p:nvSpPr>
        <p:spPr>
          <a:xfrm>
            <a:off x="812800" y="2023070"/>
            <a:ext cx="3453384" cy="330200"/>
          </a:xfrm>
          <a:prstGeom prst="rect">
            <a:avLst/>
          </a:prstGeom>
          <a:noFill/>
          <a:ln/>
        </p:spPr>
        <p:txBody>
          <a:bodyPr wrap="square" lIns="0" tIns="0" rIns="0" bIns="0" rtlCol="0" anchor="t"/>
          <a:lstStyle/>
          <a:p>
            <a:pPr algn="l" indent="0" marL="0">
              <a:lnSpc>
                <a:spcPts val="2400"/>
              </a:lnSpc>
              <a:buNone/>
            </a:pPr>
            <a:r>
              <a:rPr lang="en-US" sz="2000" b="1" dirty="0">
                <a:solidFill>
                  <a:srgbClr val="000000"/>
                </a:solidFill>
                <a:latin typeface="Times New Roman" pitchFamily="34" charset="0"/>
                <a:ea typeface="Times New Roman" pitchFamily="34" charset="-122"/>
                <a:cs typeface="Times New Roman" pitchFamily="34" charset="-120"/>
              </a:rPr>
              <a:t>Lubrication film</a:t>
            </a:r>
            <a:endParaRPr lang="en-US" sz="2000" dirty="0"/>
          </a:p>
        </p:txBody>
      </p:sp>
      <p:sp>
        <p:nvSpPr>
          <p:cNvPr id="6" name="approach text"/>
          <p:cNvSpPr txBox="1"/>
          <p:nvPr/>
        </p:nvSpPr>
        <p:spPr>
          <a:xfrm>
            <a:off x="812800" y="2442170"/>
            <a:ext cx="3453384" cy="274241"/>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Do grooves matter at all?</a:t>
            </a:r>
            <a:endParaRPr lang="en-US" sz="1400" dirty="0"/>
          </a:p>
        </p:txBody>
      </p:sp>
      <p:sp>
        <p:nvSpPr>
          <p:cNvPr id="7" name="approach text"/>
          <p:cNvSpPr txBox="1"/>
          <p:nvPr/>
        </p:nvSpPr>
        <p:spPr>
          <a:xfrm>
            <a:off x="812800" y="2805311"/>
            <a:ext cx="3453384" cy="1020763"/>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A lubrication model of the thin blood film between two walls pulling apart, comparing a smooth wall with grooved and branching (fractal) surfaces.</a:t>
            </a:r>
            <a:endParaRPr lang="en-US" sz="1400" dirty="0"/>
          </a:p>
        </p:txBody>
      </p:sp>
      <p:sp>
        <p:nvSpPr>
          <p:cNvPr id="8" name="Shape 6"/>
          <p:cNvSpPr/>
          <p:nvPr/>
        </p:nvSpPr>
        <p:spPr>
          <a:xfrm>
            <a:off x="4419600" y="1534120"/>
            <a:ext cx="3352800" cy="25400"/>
          </a:xfrm>
          <a:prstGeom prst="rect">
            <a:avLst/>
          </a:prstGeom>
          <a:solidFill>
            <a:srgbClr val="000000"/>
          </a:solidFill>
          <a:ln w="12700">
            <a:solidFill>
              <a:srgbClr val="000000"/>
            </a:solidFill>
            <a:prstDash val="solid"/>
          </a:ln>
        </p:spPr>
      </p:sp>
      <p:sp>
        <p:nvSpPr>
          <p:cNvPr id="9" name="approach text"/>
          <p:cNvSpPr txBox="1"/>
          <p:nvPr/>
        </p:nvSpPr>
        <p:spPr>
          <a:xfrm>
            <a:off x="4419600" y="1737320"/>
            <a:ext cx="3453384" cy="196850"/>
          </a:xfrm>
          <a:prstGeom prst="rect">
            <a:avLst/>
          </a:prstGeom>
          <a:noFill/>
          <a:ln/>
        </p:spPr>
        <p:txBody>
          <a:bodyPr wrap="square" lIns="0" tIns="0" rIns="0" bIns="0" rtlCol="0" anchor="t"/>
          <a:lstStyle/>
          <a:p>
            <a:pPr algn="l" indent="0" marL="0">
              <a:lnSpc>
                <a:spcPts val="1380"/>
              </a:lnSpc>
              <a:buNone/>
            </a:pPr>
            <a:r>
              <a:rPr lang="en-US" sz="1200" spc="150" kern="0" dirty="0">
                <a:solidFill>
                  <a:srgbClr val="000000"/>
                </a:solidFill>
                <a:latin typeface="Times New Roman" pitchFamily="34" charset="0"/>
                <a:ea typeface="Times New Roman" pitchFamily="34" charset="-122"/>
                <a:cs typeface="Times New Roman" pitchFamily="34" charset="-120"/>
              </a:rPr>
              <a:t>TIER 2</a:t>
            </a:r>
            <a:endParaRPr lang="en-US" sz="1200" dirty="0"/>
          </a:p>
        </p:txBody>
      </p:sp>
      <p:sp>
        <p:nvSpPr>
          <p:cNvPr id="10" name="approach text"/>
          <p:cNvSpPr txBox="1"/>
          <p:nvPr/>
        </p:nvSpPr>
        <p:spPr>
          <a:xfrm>
            <a:off x="4419600" y="2023070"/>
            <a:ext cx="3453384" cy="330200"/>
          </a:xfrm>
          <a:prstGeom prst="rect">
            <a:avLst/>
          </a:prstGeom>
          <a:noFill/>
          <a:ln/>
        </p:spPr>
        <p:txBody>
          <a:bodyPr wrap="square" lIns="0" tIns="0" rIns="0" bIns="0" rtlCol="0" anchor="t"/>
          <a:lstStyle/>
          <a:p>
            <a:pPr algn="l" indent="0" marL="0">
              <a:lnSpc>
                <a:spcPts val="2400"/>
              </a:lnSpc>
              <a:buNone/>
            </a:pPr>
            <a:r>
              <a:rPr lang="en-US" sz="2000" b="1" dirty="0">
                <a:solidFill>
                  <a:srgbClr val="000000"/>
                </a:solidFill>
                <a:latin typeface="Times New Roman" pitchFamily="34" charset="0"/>
                <a:ea typeface="Times New Roman" pitchFamily="34" charset="-122"/>
                <a:cs typeface="Times New Roman" pitchFamily="34" charset="-120"/>
              </a:rPr>
              <a:t>2D ventricle</a:t>
            </a:r>
            <a:endParaRPr lang="en-US" sz="2000" dirty="0"/>
          </a:p>
        </p:txBody>
      </p:sp>
      <p:sp>
        <p:nvSpPr>
          <p:cNvPr id="11" name="approach text"/>
          <p:cNvSpPr txBox="1"/>
          <p:nvPr/>
        </p:nvSpPr>
        <p:spPr>
          <a:xfrm>
            <a:off x="4419600" y="2442170"/>
            <a:ext cx="3453384" cy="523081"/>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Does the benefit survive inside a beating ventricle?</a:t>
            </a:r>
            <a:endParaRPr lang="en-US" sz="1400" dirty="0"/>
          </a:p>
        </p:txBody>
      </p:sp>
      <p:sp>
        <p:nvSpPr>
          <p:cNvPr id="12" name="approach text"/>
          <p:cNvSpPr txBox="1"/>
          <p:nvPr/>
        </p:nvSpPr>
        <p:spPr>
          <a:xfrm>
            <a:off x="4419600" y="3054152"/>
            <a:ext cx="3453384" cy="1020763"/>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A 2D flow simulation through whole heartbeats, with valves, filling and washout, comparing a trabeculated ventricle with two smooth controls.</a:t>
            </a:r>
            <a:endParaRPr lang="en-US" sz="1400" dirty="0"/>
          </a:p>
        </p:txBody>
      </p:sp>
      <p:sp>
        <p:nvSpPr>
          <p:cNvPr id="13" name="Shape 11"/>
          <p:cNvSpPr/>
          <p:nvPr/>
        </p:nvSpPr>
        <p:spPr>
          <a:xfrm>
            <a:off x="8026400" y="1534120"/>
            <a:ext cx="3352800" cy="25400"/>
          </a:xfrm>
          <a:prstGeom prst="rect">
            <a:avLst/>
          </a:prstGeom>
          <a:solidFill>
            <a:srgbClr val="000000"/>
          </a:solidFill>
          <a:ln w="12700">
            <a:solidFill>
              <a:srgbClr val="000000"/>
            </a:solidFill>
            <a:prstDash val="solid"/>
          </a:ln>
        </p:spPr>
      </p:sp>
      <p:sp>
        <p:nvSpPr>
          <p:cNvPr id="14" name="approach text"/>
          <p:cNvSpPr txBox="1"/>
          <p:nvPr/>
        </p:nvSpPr>
        <p:spPr>
          <a:xfrm>
            <a:off x="8026400" y="1737320"/>
            <a:ext cx="3453384" cy="196850"/>
          </a:xfrm>
          <a:prstGeom prst="rect">
            <a:avLst/>
          </a:prstGeom>
          <a:noFill/>
          <a:ln/>
        </p:spPr>
        <p:txBody>
          <a:bodyPr wrap="square" lIns="0" tIns="0" rIns="0" bIns="0" rtlCol="0" anchor="t"/>
          <a:lstStyle/>
          <a:p>
            <a:pPr algn="l" indent="0" marL="0">
              <a:lnSpc>
                <a:spcPts val="1380"/>
              </a:lnSpc>
              <a:buNone/>
            </a:pPr>
            <a:r>
              <a:rPr lang="en-US" sz="1200" spc="150" kern="0" dirty="0">
                <a:solidFill>
                  <a:srgbClr val="000000"/>
                </a:solidFill>
                <a:latin typeface="Times New Roman" pitchFamily="34" charset="0"/>
                <a:ea typeface="Times New Roman" pitchFamily="34" charset="-122"/>
                <a:cs typeface="Times New Roman" pitchFamily="34" charset="-120"/>
              </a:rPr>
              <a:t>TIER 3</a:t>
            </a:r>
            <a:endParaRPr lang="en-US" sz="1200" dirty="0"/>
          </a:p>
        </p:txBody>
      </p:sp>
      <p:sp>
        <p:nvSpPr>
          <p:cNvPr id="15" name="approach text"/>
          <p:cNvSpPr txBox="1"/>
          <p:nvPr/>
        </p:nvSpPr>
        <p:spPr>
          <a:xfrm>
            <a:off x="8026400" y="2023070"/>
            <a:ext cx="3453384" cy="330200"/>
          </a:xfrm>
          <a:prstGeom prst="rect">
            <a:avLst/>
          </a:prstGeom>
          <a:noFill/>
          <a:ln/>
        </p:spPr>
        <p:txBody>
          <a:bodyPr wrap="square" lIns="0" tIns="0" rIns="0" bIns="0" rtlCol="0" anchor="t"/>
          <a:lstStyle/>
          <a:p>
            <a:pPr algn="l" indent="0" marL="0">
              <a:lnSpc>
                <a:spcPts val="2400"/>
              </a:lnSpc>
              <a:buNone/>
            </a:pPr>
            <a:r>
              <a:rPr lang="en-US" sz="2000" b="1" dirty="0">
                <a:solidFill>
                  <a:srgbClr val="000000"/>
                </a:solidFill>
                <a:latin typeface="Times New Roman" pitchFamily="34" charset="0"/>
                <a:ea typeface="Times New Roman" pitchFamily="34" charset="-122"/>
                <a:cs typeface="Times New Roman" pitchFamily="34" charset="-120"/>
              </a:rPr>
              <a:t>3D apposed walls</a:t>
            </a:r>
            <a:endParaRPr lang="en-US" sz="2000" dirty="0"/>
          </a:p>
        </p:txBody>
      </p:sp>
      <p:sp>
        <p:nvSpPr>
          <p:cNvPr id="16" name="approach text"/>
          <p:cNvSpPr txBox="1"/>
          <p:nvPr/>
        </p:nvSpPr>
        <p:spPr>
          <a:xfrm>
            <a:off x="8026400" y="2442170"/>
            <a:ext cx="3453384" cy="523081"/>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Does it hold in 3D, with walls pulled apart by recoil?</a:t>
            </a:r>
            <a:endParaRPr lang="en-US" sz="1400" dirty="0"/>
          </a:p>
        </p:txBody>
      </p:sp>
      <p:sp>
        <p:nvSpPr>
          <p:cNvPr id="17" name="approach text"/>
          <p:cNvSpPr txBox="1"/>
          <p:nvPr/>
        </p:nvSpPr>
        <p:spPr>
          <a:xfrm>
            <a:off x="8026400" y="3054152"/>
            <a:ext cx="3453384"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A fully resolved 3D patch of nearly touching wall, then a simple model calibrated against it to reach realistic gaps.</a:t>
            </a:r>
            <a:endParaRPr lang="en-US" sz="1400" dirty="0"/>
          </a:p>
        </p:txBody>
      </p:sp>
      <p:sp>
        <p:nvSpPr>
          <p:cNvPr id="18" name="approach text"/>
          <p:cNvSpPr txBox="1"/>
          <p:nvPr/>
        </p:nvSpPr>
        <p:spPr>
          <a:xfrm>
            <a:off x="812800" y="4303514"/>
            <a:ext cx="10566400" cy="27424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Each tier is first checked against problems with known exact answers, and each one picks up the question the previous tier could not answer.</a:t>
            </a:r>
            <a:endParaRPr lang="en-US" sz="1400" dirty="0"/>
          </a:p>
        </p:txBody>
      </p:sp>
      <p:sp>
        <p:nvSpPr>
          <p:cNvPr id="19" name="approach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1-model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Tier 1: the film between apposed walls</a:t>
            </a:r>
            <a:endParaRPr lang="en-US" sz="3200" dirty="0"/>
          </a:p>
        </p:txBody>
      </p:sp>
      <p:sp>
        <p:nvSpPr>
          <p:cNvPr id="3" name="t1-model text"/>
          <p:cNvSpPr txBox="1"/>
          <p:nvPr/>
        </p:nvSpPr>
        <p:spPr>
          <a:xfrm>
            <a:off x="812800" y="1508720"/>
            <a:ext cx="10566400" cy="825500"/>
          </a:xfrm>
          <a:prstGeom prst="rect">
            <a:avLst/>
          </a:prstGeom>
          <a:noFill/>
          <a:ln/>
        </p:spPr>
        <p:txBody>
          <a:bodyPr wrap="square" lIns="0" tIns="0" rIns="0" bIns="0" rtlCol="0" anchor="t"/>
          <a:lstStyle/>
          <a:p>
            <a:pPr algn="l" indent="0" marL="0">
              <a:lnSpc>
                <a:spcPts val="2100"/>
              </a:lnSpc>
              <a:buNone/>
            </a:pPr>
            <a:r>
              <a:rPr lang="en-US" sz="1500" dirty="0">
                <a:solidFill>
                  <a:srgbClr val="000000"/>
                </a:solidFill>
                <a:latin typeface="Times New Roman" pitchFamily="34" charset="0"/>
                <a:ea typeface="Times New Roman" pitchFamily="34" charset="-122"/>
                <a:cs typeface="Times New Roman" pitchFamily="34" charset="-120"/>
              </a:rPr>
              <a:t>We solve the Reynolds lubrication equation, the standard model for a thin viscous film, </a:t>
            </a:r>
            <a:pPr algn="l" indent="0" marL="0">
              <a:lnSpc>
                <a:spcPts val="2100"/>
              </a:lnSpc>
              <a:buNone/>
            </a:pPr>
            <a:r>
              <a:rPr lang="en-US" sz="1500" i="1" dirty="0">
                <a:solidFill>
                  <a:srgbClr val="000000"/>
                </a:solidFill>
                <a:latin typeface="Times New Roman" pitchFamily="34" charset="0"/>
                <a:ea typeface="Times New Roman" pitchFamily="34" charset="-122"/>
                <a:cs typeface="Times New Roman" pitchFamily="34" charset="-120"/>
              </a:rPr>
              <a:t>∇·(h³∇p / 12μ) = ḣ</a:t>
            </a:r>
            <a:pPr algn="l" indent="0" marL="0">
              <a:lnSpc>
                <a:spcPts val="2100"/>
              </a:lnSpc>
              <a:buNone/>
            </a:pPr>
            <a:r>
              <a:rPr lang="en-US" sz="1500" dirty="0">
                <a:solidFill>
                  <a:srgbClr val="000000"/>
                </a:solidFill>
                <a:latin typeface="Times New Roman" pitchFamily="34" charset="0"/>
                <a:ea typeface="Times New Roman" pitchFamily="34" charset="-122"/>
                <a:cs typeface="Times New Roman" pitchFamily="34" charset="-120"/>
              </a:rPr>
              <a:t>, over a 10 mm patch of apposed wall, with zero pressure at the rim where the film meets the open cavity. Each map shows the suction in the film at a 0.2 mm gap and the same opening speed: smooth wall 49 mmHg, groove mesh 0.6 mmHg, fractal mesh 0.9 mmHg.</a:t>
            </a:r>
            <a:endParaRPr lang="en-US" sz="1500" dirty="0"/>
          </a:p>
        </p:txBody>
      </p:sp>
      <p:pic>
        <p:nvPicPr>
          <p:cNvPr id="4" name="Image 0" descr="Suction maps at a 0.2 mm gap: smooth wall peaks at 49 mmHg, groove mesh 0.6 mmHg, fractal mesh 0.9 mmHg">    </p:cNvPr>
          <p:cNvPicPr>
            <a:picLocks noChangeAspect="1"/>
          </p:cNvPicPr>
          <p:nvPr/>
        </p:nvPicPr>
        <p:blipFill>
          <a:blip r:embed="rId1"/>
          <a:stretch>
            <a:fillRect/>
          </a:stretch>
        </p:blipFill>
        <p:spPr>
          <a:xfrm>
            <a:off x="1442761" y="2537420"/>
            <a:ext cx="9306478" cy="3175000"/>
          </a:xfrm>
          <a:prstGeom prst="rect">
            <a:avLst/>
          </a:prstGeom>
        </p:spPr>
      </p:pic>
      <p:sp>
        <p:nvSpPr>
          <p:cNvPr id="5" name="t1-model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5 · Each panel on its own colour scale; grooves deeper than they are wide are treated as rectangular ducts; verified against the exact Stefan solution to under 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1-gap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A smooth wall would stick, but only at small gaps</a:t>
            </a:r>
            <a:endParaRPr lang="en-US" sz="3200" dirty="0"/>
          </a:p>
        </p:txBody>
      </p:sp>
      <p:pic>
        <p:nvPicPr>
          <p:cNvPr id="3" name="Image 0" descr="Peak suction versus crest gap for smooth, volume matched, parallel groove, groove mesh and fractal walls">    </p:cNvPr>
          <p:cNvPicPr>
            <a:picLocks noChangeAspect="1"/>
          </p:cNvPicPr>
          <p:nvPr/>
        </p:nvPicPr>
        <p:blipFill>
          <a:blip r:embed="rId1"/>
          <a:stretch>
            <a:fillRect/>
          </a:stretch>
        </p:blipFill>
        <p:spPr>
          <a:xfrm>
            <a:off x="812800" y="1535179"/>
            <a:ext cx="6477000" cy="4138083"/>
          </a:xfrm>
          <a:prstGeom prst="rect">
            <a:avLst/>
          </a:prstGeom>
        </p:spPr>
      </p:pic>
      <p:sp>
        <p:nvSpPr>
          <p:cNvPr id="4" name="t1-gap text"/>
          <p:cNvSpPr txBox="1"/>
          <p:nvPr/>
        </p:nvSpPr>
        <p:spPr>
          <a:xfrm>
            <a:off x="7696200" y="2006997"/>
            <a:ext cx="3793490"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Each curve is the peak suction needed to pull the walls apart at 5 cm/s, against the crest gap, the distance between the tips of opposing walls.</a:t>
            </a:r>
            <a:endParaRPr lang="en-US" sz="1400" dirty="0"/>
          </a:p>
        </p:txBody>
      </p:sp>
      <p:sp>
        <p:nvSpPr>
          <p:cNvPr id="5" name="t1-gap text"/>
          <p:cNvSpPr txBox="1"/>
          <p:nvPr/>
        </p:nvSpPr>
        <p:spPr>
          <a:xfrm>
            <a:off x="7696200" y="2905919"/>
            <a:ext cx="3793490"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Smooth wall: 3 mmHg at 0.5 mm, 49 mmHg at 0.2 mm, 394 mmHg at 0.1 mm. Early diastole only supplies about 2.5 mmHg.</a:t>
            </a:r>
            <a:endParaRPr lang="en-US" sz="1400" dirty="0"/>
          </a:p>
        </p:txBody>
      </p:sp>
      <p:sp>
        <p:nvSpPr>
          <p:cNvPr id="6" name="t1-gap text"/>
          <p:cNvSpPr txBox="1"/>
          <p:nvPr/>
        </p:nvSpPr>
        <p:spPr>
          <a:xfrm>
            <a:off x="7696200" y="3804841"/>
            <a:ext cx="3793490" cy="52308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Grooved walls cut that force 45 to 530 fold, holding suction near 1 mmHg.</a:t>
            </a:r>
            <a:endParaRPr lang="en-US" sz="1400" dirty="0"/>
          </a:p>
        </p:txBody>
      </p:sp>
      <p:sp>
        <p:nvSpPr>
          <p:cNvPr id="7" name="t1-gap text"/>
          <p:cNvSpPr txBox="1"/>
          <p:nvPr/>
        </p:nvSpPr>
        <p:spPr>
          <a:xfrm>
            <a:off x="7696200" y="4454922"/>
            <a:ext cx="3793490" cy="771922"/>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Takeaway:</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suction only matters below about half a millimetre, and there grooves make all the difference.</a:t>
            </a:r>
            <a:endParaRPr lang="en-US" sz="1400" dirty="0"/>
          </a:p>
        </p:txBody>
      </p:sp>
      <p:sp>
        <p:nvSpPr>
          <p:cNvPr id="8" name="t1-gap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6 · Separation speed 5 cm/s, patch radius 10 mm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1-pitch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Groove spacing and depth both matter</a:t>
            </a:r>
            <a:endParaRPr lang="en-US" sz="3200" dirty="0"/>
          </a:p>
        </p:txBody>
      </p:sp>
      <p:pic>
        <p:nvPicPr>
          <p:cNvPr id="3" name="Image 0" descr="Force reduction versus groove pitch, peaking near 3 to 4 mm">    </p:cNvPr>
          <p:cNvPicPr>
            <a:picLocks noChangeAspect="1"/>
          </p:cNvPicPr>
          <p:nvPr/>
        </p:nvPicPr>
        <p:blipFill>
          <a:blip r:embed="rId1"/>
          <a:stretch>
            <a:fillRect/>
          </a:stretch>
        </p:blipFill>
        <p:spPr>
          <a:xfrm>
            <a:off x="992809" y="1483320"/>
            <a:ext cx="4770783" cy="3048000"/>
          </a:xfrm>
          <a:prstGeom prst="rect">
            <a:avLst/>
          </a:prstGeom>
        </p:spPr>
      </p:pic>
      <p:pic>
        <p:nvPicPr>
          <p:cNvPr id="4" name="Image 1" descr="Force reduction versus recess depth relative to gap">    </p:cNvPr>
          <p:cNvPicPr>
            <a:picLocks noChangeAspect="1"/>
          </p:cNvPicPr>
          <p:nvPr/>
        </p:nvPicPr>
        <p:blipFill>
          <a:blip r:embed="rId2"/>
          <a:stretch>
            <a:fillRect/>
          </a:stretch>
        </p:blipFill>
        <p:spPr>
          <a:xfrm>
            <a:off x="6428409" y="1483320"/>
            <a:ext cx="4770783" cy="3048000"/>
          </a:xfrm>
          <a:prstGeom prst="rect">
            <a:avLst/>
          </a:prstGeom>
        </p:spPr>
      </p:pic>
      <p:sp>
        <p:nvSpPr>
          <p:cNvPr id="5" name="t1-pitch text"/>
          <p:cNvSpPr txBox="1"/>
          <p:nvPr/>
        </p:nvSpPr>
        <p:spPr>
          <a:xfrm>
            <a:off x="812800" y="4734520"/>
            <a:ext cx="10566400" cy="771922"/>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Left:</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relief versus pitch, the spacing between grooves. Relief peaks at 3 to 4 mm (about 165 fold), and real trabeculae, spaced 1 to 3 mm apart, sit on the rising side of that peak. Grooves that are too coarse leave large islands of film; grooves that are too fine become narrow ducts that cannot carry the flow. </a:t>
            </a:r>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Right:</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relief versus recess depth. A groove only drains once it is several gaps deep, about five gaps for a thirty fold relief.</a:t>
            </a:r>
            <a:endParaRPr lang="en-US" sz="1400" dirty="0"/>
          </a:p>
        </p:txBody>
      </p:sp>
      <p:sp>
        <p:nvSpPr>
          <p:cNvPr id="6" name="t1-pitch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7 · Crest gap 0.2 mm, 2 mm deep recesses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1-time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The caveat that set up Tier 2</a:t>
            </a:r>
            <a:endParaRPr lang="en-US" sz="3200" dirty="0"/>
          </a:p>
        </p:txBody>
      </p:sp>
      <p:pic>
        <p:nvPicPr>
          <p:cNvPr id="3" name="Image 0" descr="Time to open from 0.2 to 2 mm versus opening stress for each surface">    </p:cNvPr>
          <p:cNvPicPr>
            <a:picLocks noChangeAspect="1"/>
          </p:cNvPicPr>
          <p:nvPr/>
        </p:nvPicPr>
        <p:blipFill>
          <a:blip r:embed="rId1"/>
          <a:stretch>
            <a:fillRect/>
          </a:stretch>
        </p:blipFill>
        <p:spPr>
          <a:xfrm>
            <a:off x="812800" y="1535179"/>
            <a:ext cx="6477000" cy="4138083"/>
          </a:xfrm>
          <a:prstGeom prst="rect">
            <a:avLst/>
          </a:prstGeom>
        </p:spPr>
      </p:pic>
      <p:sp>
        <p:nvSpPr>
          <p:cNvPr id="4" name="t1-time text"/>
          <p:cNvSpPr txBox="1"/>
          <p:nvPr/>
        </p:nvSpPr>
        <p:spPr>
          <a:xfrm>
            <a:off x="7696200" y="2006997"/>
            <a:ext cx="3793490" cy="52308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Each curve is the time for the walls to open from 0.2 mm to 2 mm under a steady opening stress.</a:t>
            </a:r>
            <a:endParaRPr lang="en-US" sz="1400" dirty="0"/>
          </a:p>
        </p:txBody>
      </p:sp>
      <p:sp>
        <p:nvSpPr>
          <p:cNvPr id="5" name="t1-time text"/>
          <p:cNvSpPr txBox="1"/>
          <p:nvPr/>
        </p:nvSpPr>
        <p:spPr>
          <a:xfrm>
            <a:off x="7696200" y="2657078"/>
            <a:ext cx="3793490" cy="52308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At 1 mmHg a smooth wall needs about 49 ms; grooved walls only 4 to 6 ms.</a:t>
            </a:r>
            <a:endParaRPr lang="en-US" sz="1400" dirty="0"/>
          </a:p>
        </p:txBody>
      </p:sp>
      <p:sp>
        <p:nvSpPr>
          <p:cNvPr id="6" name="t1-time text"/>
          <p:cNvSpPr txBox="1"/>
          <p:nvPr/>
        </p:nvSpPr>
        <p:spPr>
          <a:xfrm>
            <a:off x="7696200" y="3307159"/>
            <a:ext cx="3793490" cy="1020763"/>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The catch: a smooth wall that simply empties less, so the cavity holds the same blood as the trabeculated one (the volume matched control), opens faster than any grooved surface.</a:t>
            </a:r>
            <a:endParaRPr lang="en-US" sz="1400" dirty="0"/>
          </a:p>
        </p:txBody>
      </p:sp>
      <p:sp>
        <p:nvSpPr>
          <p:cNvPr id="7" name="t1-time text"/>
          <p:cNvSpPr txBox="1"/>
          <p:nvPr/>
        </p:nvSpPr>
        <p:spPr>
          <a:xfrm>
            <a:off x="7696200" y="4454922"/>
            <a:ext cx="3793490"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So the real question is whether grooves beat emptying less. That needs a whole beating ventricle, which is Tier 2.</a:t>
            </a:r>
            <a:endParaRPr lang="en-US" sz="1400" dirty="0"/>
          </a:p>
        </p:txBody>
      </p:sp>
      <p:sp>
        <p:nvSpPr>
          <p:cNvPr id="8" name="t1-time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8 · Quasi static Tier 1 estimate, no wall or fluid inertia</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2-model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Tier 2: a ventricle through a full cardiac cycle</a:t>
            </a:r>
            <a:endParaRPr lang="en-US" sz="3200" dirty="0"/>
          </a:p>
        </p:txBody>
      </p:sp>
      <p:pic>
        <p:nvPicPr>
          <p:cNvPr id="3" name="Image 0" descr="Three ventricles at end diastole and end systole: trabeculated, smooth at crest, smooth volume matched">    </p:cNvPr>
          <p:cNvPicPr>
            <a:picLocks noChangeAspect="1"/>
          </p:cNvPicPr>
          <p:nvPr/>
        </p:nvPicPr>
        <p:blipFill>
          <a:blip r:embed="rId1"/>
          <a:stretch>
            <a:fillRect/>
          </a:stretch>
        </p:blipFill>
        <p:spPr>
          <a:xfrm>
            <a:off x="812800" y="1485437"/>
            <a:ext cx="4445000" cy="4148667"/>
          </a:xfrm>
          <a:prstGeom prst="rect">
            <a:avLst/>
          </a:prstGeom>
        </p:spPr>
      </p:pic>
      <p:sp>
        <p:nvSpPr>
          <p:cNvPr id="4" name="t2-model text"/>
          <p:cNvSpPr txBox="1"/>
          <p:nvPr/>
        </p:nvSpPr>
        <p:spPr>
          <a:xfrm>
            <a:off x="5664200" y="1483320"/>
            <a:ext cx="5886450"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A 2D slice through the long axis of the left ventricle, run for three 0.8 s heartbeats on a 0.25 mm grid, with the mitral and aortic valves opening on schedule.</a:t>
            </a:r>
            <a:endParaRPr lang="en-US" sz="1400" dirty="0"/>
          </a:p>
        </p:txBody>
      </p:sp>
      <p:sp>
        <p:nvSpPr>
          <p:cNvPr id="5" name="t2-model text"/>
          <p:cNvSpPr txBox="1"/>
          <p:nvPr/>
        </p:nvSpPr>
        <p:spPr>
          <a:xfrm>
            <a:off x="5664200" y="2382242"/>
            <a:ext cx="5886450" cy="52308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The wall motion is prescribed, not computed: the apical quarter squeezes down to a thin slit at end systole.</a:t>
            </a:r>
            <a:endParaRPr lang="en-US" sz="1400" dirty="0"/>
          </a:p>
        </p:txBody>
      </p:sp>
      <p:sp>
        <p:nvSpPr>
          <p:cNvPr id="6" name="t2-model text"/>
          <p:cNvSpPr txBox="1"/>
          <p:nvPr/>
        </p:nvSpPr>
        <p:spPr>
          <a:xfrm>
            <a:off x="5664200" y="3032323"/>
            <a:ext cx="5886450" cy="1020763"/>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Three versions share the same crest motion. </a:t>
            </a:r>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Trabeculated:</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ridges with recesses between them. </a:t>
            </a:r>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Smooth at crest:</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a smooth wall where the trabecular tips are, so it empties further. </a:t>
            </a:r>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Smooth, volume matched:</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a smooth wall placed so the cavity holds the same blood as the trabeculated one.</a:t>
            </a:r>
            <a:endParaRPr lang="en-US" sz="1400" dirty="0"/>
          </a:p>
        </p:txBody>
      </p:sp>
      <p:sp>
        <p:nvSpPr>
          <p:cNvPr id="7" name="t2-model text"/>
          <p:cNvSpPr txBox="1"/>
          <p:nvPr/>
        </p:nvSpPr>
        <p:spPr>
          <a:xfrm>
            <a:off x="5664200" y="4180086"/>
            <a:ext cx="5886450" cy="52308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Gaps thinner than 0.75 mm are too small for the grid, so the Tier 1 film model handles them as a subgrid closure.</a:t>
            </a:r>
            <a:endParaRPr lang="en-US" sz="1400" dirty="0"/>
          </a:p>
        </p:txBody>
      </p:sp>
      <p:sp>
        <p:nvSpPr>
          <p:cNvPr id="8" name="t2-model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9 · Pseudo spectral Navier Stokes with Brinkman penalized walls; myocardial area conserved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2-video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Simulation: one cardiac cycle in three ventricles</a:t>
            </a:r>
            <a:endParaRPr lang="en-US" sz="3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815622" y="1483320"/>
            <a:ext cx="7360356" cy="4140200"/>
          </a:xfrm>
          <a:prstGeom prst="rect">
            <a:avLst/>
          </a:prstGeom>
        </p:spPr>
      </p:pic>
      <p:sp>
        <p:nvSpPr>
          <p:cNvPr id="4" name="t2-video text"/>
          <p:cNvSpPr txBox="1"/>
          <p:nvPr/>
        </p:nvSpPr>
        <p:spPr>
          <a:xfrm>
            <a:off x="8483600" y="2156817"/>
            <a:ext cx="2982468"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Colour shows vorticity, how fast the blood is spinning: red one way, blue the other.</a:t>
            </a:r>
            <a:endParaRPr lang="en-US" sz="1400" dirty="0"/>
          </a:p>
        </p:txBody>
      </p:sp>
      <p:sp>
        <p:nvSpPr>
          <p:cNvPr id="5" name="t2-video text"/>
          <p:cNvSpPr txBox="1"/>
          <p:nvPr/>
        </p:nvSpPr>
        <p:spPr>
          <a:xfrm>
            <a:off x="8483600" y="3055739"/>
            <a:ext cx="2982468" cy="1020763"/>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Watch the mitral jet roll up into a vortex that travels toward the apex during filling, and the small vortices that peel off the apical slit as it reopens.</a:t>
            </a:r>
            <a:endParaRPr lang="en-US" sz="1400" dirty="0"/>
          </a:p>
        </p:txBody>
      </p:sp>
      <p:sp>
        <p:nvSpPr>
          <p:cNvPr id="6" name="t2-video text"/>
          <p:cNvSpPr txBox="1"/>
          <p:nvPr/>
        </p:nvSpPr>
        <p:spPr>
          <a:xfrm>
            <a:off x="8483600" y="4203502"/>
            <a:ext cx="2982468"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In the trabeculated ventricle the ridges break up the layer of blood along the wall.</a:t>
            </a:r>
            <a:endParaRPr lang="en-US" sz="1400" dirty="0"/>
          </a:p>
        </p:txBody>
      </p:sp>
      <p:sp>
        <p:nvSpPr>
          <p:cNvPr id="7" name="t2-video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10 · Vorticity, 0.25 mm grid; phase of the cycle shown at the top of each frame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2-results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Trabeculae trade a little energy for better washout</a:t>
            </a:r>
            <a:endParaRPr lang="en-US" sz="3200" dirty="0"/>
          </a:p>
        </p:txBody>
      </p:sp>
      <p:pic>
        <p:nvPicPr>
          <p:cNvPr id="3" name="Image 0" descr="Outflow, base to apex pressure difference and endocardial power over the last cycle for the three ventricles">    </p:cNvPr>
          <p:cNvPicPr>
            <a:picLocks noChangeAspect="1"/>
          </p:cNvPicPr>
          <p:nvPr/>
        </p:nvPicPr>
        <p:blipFill>
          <a:blip r:embed="rId1"/>
          <a:stretch>
            <a:fillRect/>
          </a:stretch>
        </p:blipFill>
        <p:spPr>
          <a:xfrm>
            <a:off x="983247" y="1483320"/>
            <a:ext cx="3850105" cy="4064000"/>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359400" y="1483320"/>
          <a:ext cx="6019800" cy="914400"/>
        </p:xfrm>
        <a:graphic>
          <a:graphicData uri="http://schemas.openxmlformats.org/drawingml/2006/table">
            <a:tbl>
              <a:tblPr/>
              <a:tblGrid>
                <a:gridCol w="2046784"/>
                <a:gridCol w="1324273"/>
                <a:gridCol w="1324273"/>
                <a:gridCol w="1324471"/>
              </a:tblGrid>
              <a:tr h="190500">
                <a:tc>
                  <a:txBody>
                    <a:bodyPr/>
                    <a:lstStyle/>
                    <a:p>
                      <a:pPr algn="l" indent="0" marL="0">
                        <a:buNone/>
                      </a:pPr>
                      <a:r>
                        <a:rPr lang="en-US" sz="1300" b="1" dirty="0">
                          <a:solidFill>
                            <a:srgbClr val="000000"/>
                          </a:solidFill>
                          <a:latin typeface="Times New Roman" pitchFamily="34" charset="0"/>
                          <a:ea typeface="Times New Roman" pitchFamily="34" charset="-122"/>
                          <a:cs typeface="Times New Roman" pitchFamily="34" charset="-120"/>
                        </a:rPr>
                        <a:t>Third cycle</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b="1" dirty="0">
                          <a:solidFill>
                            <a:srgbClr val="000000"/>
                          </a:solidFill>
                          <a:latin typeface="Times New Roman" pitchFamily="34" charset="0"/>
                          <a:ea typeface="Times New Roman" pitchFamily="34" charset="-122"/>
                          <a:cs typeface="Times New Roman" pitchFamily="34" charset="-120"/>
                        </a:rPr>
                        <a:t>Trabeculated</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b="1" dirty="0">
                          <a:solidFill>
                            <a:srgbClr val="000000"/>
                          </a:solidFill>
                          <a:latin typeface="Times New Roman" pitchFamily="34" charset="0"/>
                          <a:ea typeface="Times New Roman" pitchFamily="34" charset="-122"/>
                          <a:cs typeface="Times New Roman" pitchFamily="34" charset="-120"/>
                        </a:rPr>
                        <a:t>Smooth crest</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b="1" dirty="0">
                          <a:solidFill>
                            <a:srgbClr val="000000"/>
                          </a:solidFill>
                          <a:latin typeface="Times New Roman" pitchFamily="34" charset="0"/>
                          <a:ea typeface="Times New Roman" pitchFamily="34" charset="-122"/>
                          <a:cs typeface="Times New Roman" pitchFamily="34" charset="-120"/>
                        </a:rPr>
                        <a:t>Smooth vol.</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E wave gradient, mmHg</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2.8</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2.3</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2.0</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Dissipation, mJ/m</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27.2</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22.0</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16.6</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Diastolic work, mJ/m</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−34.7</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−33.2</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−37.4</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Film, 0.2 mm gap, mmHg</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0.21</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6.3</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0.016</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Blood left after 3 beats</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17.2%</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17.3%</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20.7%</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bl>
          </a:graphicData>
        </a:graphic>
      </p:graphicFrame>
      <p:sp>
        <p:nvSpPr>
          <p:cNvPr id="5" name="t2-results text"/>
          <p:cNvSpPr txBox="1"/>
          <p:nvPr/>
        </p:nvSpPr>
        <p:spPr>
          <a:xfrm>
            <a:off x="5359400" y="2804120"/>
            <a:ext cx="6200394" cy="718641"/>
          </a:xfrm>
          <a:prstGeom prst="rect">
            <a:avLst/>
          </a:prstGeom>
          <a:noFill/>
          <a:ln/>
        </p:spPr>
        <p:txBody>
          <a:bodyPr wrap="square" lIns="0" tIns="0" rIns="0" bIns="0" rtlCol="0" anchor="t"/>
          <a:lstStyle/>
          <a:p>
            <a:pPr algn="l" indent="0" marL="0">
              <a:lnSpc>
                <a:spcPts val="1820"/>
              </a:lnSpc>
              <a:buNone/>
            </a:pPr>
            <a:r>
              <a:rPr lang="en-US" sz="1300" dirty="0">
                <a:solidFill>
                  <a:srgbClr val="000000"/>
                </a:solidFill>
                <a:latin typeface="Times New Roman" pitchFamily="34" charset="0"/>
                <a:ea typeface="Times New Roman" pitchFamily="34" charset="-122"/>
                <a:cs typeface="Times New Roman" pitchFamily="34" charset="-120"/>
              </a:rPr>
              <a:t>The E wave gradient is the base to apex pressure difference that pulls blood in during early filling; 2 to 3 mmHg emerges from the flow on its own. Dissipation is energy lost to friction in the blood.</a:t>
            </a:r>
            <a:endParaRPr lang="en-US" sz="1300" dirty="0"/>
          </a:p>
        </p:txBody>
      </p:sp>
      <p:sp>
        <p:nvSpPr>
          <p:cNvPr id="6" name="t2-results text"/>
          <p:cNvSpPr txBox="1"/>
          <p:nvPr/>
        </p:nvSpPr>
        <p:spPr>
          <a:xfrm>
            <a:off x="5359400" y="3675162"/>
            <a:ext cx="6200394" cy="718641"/>
          </a:xfrm>
          <a:prstGeom prst="rect">
            <a:avLst/>
          </a:prstGeom>
          <a:noFill/>
          <a:ln/>
        </p:spPr>
        <p:txBody>
          <a:bodyPr wrap="square" lIns="0" tIns="0" rIns="0" bIns="0" rtlCol="0" anchor="t"/>
          <a:lstStyle/>
          <a:p>
            <a:pPr algn="l" indent="0" marL="0">
              <a:lnSpc>
                <a:spcPts val="1820"/>
              </a:lnSpc>
              <a:buNone/>
            </a:pPr>
            <a:r>
              <a:rPr lang="en-US" sz="1300" b="1" dirty="0">
                <a:solidFill>
                  <a:srgbClr val="000000"/>
                </a:solidFill>
                <a:latin typeface="Times New Roman" pitchFamily="34" charset="0"/>
                <a:ea typeface="Times New Roman" pitchFamily="34" charset="-122"/>
                <a:cs typeface="Times New Roman" pitchFamily="34" charset="-120"/>
              </a:rPr>
              <a:t>Versus smooth crest:</a:t>
            </a:r>
            <a:pPr algn="l" indent="0" marL="0">
              <a:lnSpc>
                <a:spcPts val="1820"/>
              </a:lnSpc>
              <a:buNone/>
            </a:pPr>
            <a:r>
              <a:rPr lang="en-US" sz="1300" dirty="0">
                <a:solidFill>
                  <a:srgbClr val="000000"/>
                </a:solidFill>
                <a:latin typeface="Times New Roman" pitchFamily="34" charset="0"/>
                <a:ea typeface="Times New Roman" pitchFamily="34" charset="-122"/>
                <a:cs typeface="Times New Roman" pitchFamily="34" charset="-120"/>
              </a:rPr>
              <a:t> the same washout, but trabeculae remove a 6 mmHg film penalty. </a:t>
            </a:r>
            <a:pPr algn="l" indent="0" marL="0">
              <a:lnSpc>
                <a:spcPts val="1820"/>
              </a:lnSpc>
              <a:buNone/>
            </a:pPr>
            <a:r>
              <a:rPr lang="en-US" sz="1300" b="1" dirty="0">
                <a:solidFill>
                  <a:srgbClr val="000000"/>
                </a:solidFill>
                <a:latin typeface="Times New Roman" pitchFamily="34" charset="0"/>
                <a:ea typeface="Times New Roman" pitchFamily="34" charset="-122"/>
                <a:cs typeface="Times New Roman" pitchFamily="34" charset="-120"/>
              </a:rPr>
              <a:t>Versus volume matched:</a:t>
            </a:r>
            <a:pPr algn="l" indent="0" marL="0">
              <a:lnSpc>
                <a:spcPts val="1820"/>
              </a:lnSpc>
              <a:buNone/>
            </a:pPr>
            <a:r>
              <a:rPr lang="en-US" sz="1300" dirty="0">
                <a:solidFill>
                  <a:srgbClr val="000000"/>
                </a:solidFill>
                <a:latin typeface="Times New Roman" pitchFamily="34" charset="0"/>
                <a:ea typeface="Times New Roman" pitchFamily="34" charset="-122"/>
                <a:cs typeface="Times New Roman" pitchFamily="34" charset="-120"/>
              </a:rPr>
              <a:t> about 8% more filling energy, but about 17% less old blood left after three beats.</a:t>
            </a:r>
            <a:endParaRPr lang="en-US" sz="1300" dirty="0"/>
          </a:p>
        </p:txBody>
      </p:sp>
      <p:sp>
        <p:nvSpPr>
          <p:cNvPr id="7" name="t2-results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11 · Energies per metre of depth because the model is 2D; more negative diastolic work means cheaper filling</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2-washout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Simulation: washing out the old blood over three beats</a:t>
            </a:r>
            <a:endParaRPr lang="en-US" sz="3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815622" y="1483320"/>
            <a:ext cx="7360356" cy="4140200"/>
          </a:xfrm>
          <a:prstGeom prst="rect">
            <a:avLst/>
          </a:prstGeom>
        </p:spPr>
      </p:pic>
      <p:sp>
        <p:nvSpPr>
          <p:cNvPr id="4" name="t2-washout text"/>
          <p:cNvSpPr txBox="1"/>
          <p:nvPr/>
        </p:nvSpPr>
        <p:spPr>
          <a:xfrm>
            <a:off x="8483600" y="2032397"/>
            <a:ext cx="2982468" cy="1020763"/>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Dark shading marks the blood that was in the ventricle at the first end diastole. Each beat ejects some of it and fresh blood from the mitral valve replaces it.</a:t>
            </a:r>
            <a:endParaRPr lang="en-US" sz="1400" dirty="0"/>
          </a:p>
        </p:txBody>
      </p:sp>
      <p:sp>
        <p:nvSpPr>
          <p:cNvPr id="5" name="t2-washout text"/>
          <p:cNvSpPr txBox="1"/>
          <p:nvPr/>
        </p:nvSpPr>
        <p:spPr>
          <a:xfrm>
            <a:off x="8483600" y="3180159"/>
            <a:ext cx="2982468" cy="52308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Old blood lingers at the apex in all three ventricles.</a:t>
            </a:r>
            <a:endParaRPr lang="en-US" sz="1400" dirty="0"/>
          </a:p>
        </p:txBody>
      </p:sp>
      <p:sp>
        <p:nvSpPr>
          <p:cNvPr id="6" name="t2-washout text"/>
          <p:cNvSpPr txBox="1"/>
          <p:nvPr/>
        </p:nvSpPr>
        <p:spPr>
          <a:xfrm>
            <a:off x="8483600" y="3830241"/>
            <a:ext cx="2982468" cy="1269603"/>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The ridges stir the layer next to the wall, so after three beats 17.2% of the old blood remains with trabeculae, versus 20.7% in the volume matched smooth ventricle.</a:t>
            </a:r>
            <a:endParaRPr lang="en-US" sz="1400" dirty="0"/>
          </a:p>
        </p:txBody>
      </p:sp>
      <p:sp>
        <p:nvSpPr>
          <p:cNvPr id="7" name="t2-washout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12 · The video uses a coarser 0.5 mm grid; the quoted percentages are from the production 0.25 mm runs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2-film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Under forced motion, the smooth apex does a lot worse</a:t>
            </a:r>
            <a:endParaRPr lang="en-US" sz="3200" dirty="0"/>
          </a:p>
        </p:txBody>
      </p:sp>
      <p:pic>
        <p:nvPicPr>
          <p:cNvPr id="3" name="Image 0" descr="Subgrid film suction after mitral opening for the three ventricles, 0.2 mm end systolic gap">    </p:cNvPr>
          <p:cNvPicPr>
            <a:picLocks noChangeAspect="1"/>
          </p:cNvPicPr>
          <p:nvPr/>
        </p:nvPicPr>
        <p:blipFill>
          <a:blip r:embed="rId1"/>
          <a:stretch>
            <a:fillRect/>
          </a:stretch>
        </p:blipFill>
        <p:spPr>
          <a:xfrm>
            <a:off x="812800" y="1534826"/>
            <a:ext cx="6731000" cy="4113389"/>
          </a:xfrm>
          <a:prstGeom prst="rect">
            <a:avLst/>
          </a:prstGeom>
        </p:spPr>
      </p:pic>
      <p:sp>
        <p:nvSpPr>
          <p:cNvPr id="4" name="t2-film text"/>
          <p:cNvSpPr txBox="1"/>
          <p:nvPr/>
        </p:nvSpPr>
        <p:spPr>
          <a:xfrm>
            <a:off x="7950200" y="2118717"/>
            <a:ext cx="3531870"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Here the walls are forced to follow the Tier 2 motion, and we ask how much suction the thin apical film generates as the apex reopens.</a:t>
            </a:r>
            <a:endParaRPr lang="en-US" sz="1400" dirty="0"/>
          </a:p>
        </p:txBody>
      </p:sp>
      <p:sp>
        <p:nvSpPr>
          <p:cNvPr id="5" name="t2-film text"/>
          <p:cNvSpPr txBox="1"/>
          <p:nvPr/>
        </p:nvSpPr>
        <p:spPr>
          <a:xfrm>
            <a:off x="7950200" y="3017639"/>
            <a:ext cx="3531870" cy="771922"/>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Smooth at crest:</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6.3 mmHg about 6 ms after the mitral valve opens, more than twice the 2.5 mmHg gradient that drives filling.</a:t>
            </a:r>
            <a:endParaRPr lang="en-US" sz="1400" dirty="0"/>
          </a:p>
        </p:txBody>
      </p:sp>
      <p:sp>
        <p:nvSpPr>
          <p:cNvPr id="6" name="t2-film text"/>
          <p:cNvSpPr txBox="1"/>
          <p:nvPr/>
        </p:nvSpPr>
        <p:spPr>
          <a:xfrm>
            <a:off x="7950200" y="3916561"/>
            <a:ext cx="3531870" cy="52308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At a 0.1 mm gap this climbs to 36 mmHg and eats about a fifth of the energy spent on filling.</a:t>
            </a:r>
            <a:endParaRPr lang="en-US" sz="1400" dirty="0"/>
          </a:p>
        </p:txBody>
      </p:sp>
      <p:sp>
        <p:nvSpPr>
          <p:cNvPr id="7" name="t2-film text"/>
          <p:cNvSpPr txBox="1"/>
          <p:nvPr/>
        </p:nvSpPr>
        <p:spPr>
          <a:xfrm>
            <a:off x="7950200" y="4566642"/>
            <a:ext cx="3531870" cy="523081"/>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Trabeculated:</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about 0.2 mmHg at every gap we tried.</a:t>
            </a:r>
            <a:endParaRPr lang="en-US" sz="1400" dirty="0"/>
          </a:p>
        </p:txBody>
      </p:sp>
      <p:sp>
        <p:nvSpPr>
          <p:cNvPr id="8" name="t2-film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13 · One way closure on Tier 2 kinematics; Tier 3 revisits it with pressure driven walls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3-model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Tier 3: the apex in 3D, with walls that push back</a:t>
            </a:r>
            <a:endParaRPr lang="en-US" sz="3200" dirty="0"/>
          </a:p>
        </p:txBody>
      </p:sp>
      <p:sp>
        <p:nvSpPr>
          <p:cNvPr id="3" name="t3-model text"/>
          <p:cNvSpPr txBox="1"/>
          <p:nvPr/>
        </p:nvSpPr>
        <p:spPr>
          <a:xfrm>
            <a:off x="812800" y="1508720"/>
            <a:ext cx="5232400" cy="330200"/>
          </a:xfrm>
          <a:prstGeom prst="rect">
            <a:avLst/>
          </a:prstGeom>
          <a:noFill/>
          <a:ln/>
        </p:spPr>
        <p:txBody>
          <a:bodyPr wrap="square" lIns="0" tIns="0" rIns="0" bIns="0" rtlCol="0" anchor="t"/>
          <a:lstStyle/>
          <a:p>
            <a:pPr algn="l" indent="0" marL="0">
              <a:lnSpc>
                <a:spcPts val="2400"/>
              </a:lnSpc>
              <a:buNone/>
            </a:pPr>
            <a:r>
              <a:rPr lang="en-US" sz="2000" b="1" dirty="0">
                <a:solidFill>
                  <a:srgbClr val="000000"/>
                </a:solidFill>
                <a:latin typeface="Times New Roman" pitchFamily="34" charset="0"/>
                <a:ea typeface="Times New Roman" pitchFamily="34" charset="-122"/>
                <a:cs typeface="Times New Roman" pitchFamily="34" charset="-120"/>
              </a:rPr>
              <a:t>Resolved 3D patch</a:t>
            </a:r>
            <a:endParaRPr lang="en-US" sz="2000" dirty="0"/>
          </a:p>
        </p:txBody>
      </p:sp>
      <p:sp>
        <p:nvSpPr>
          <p:cNvPr id="4" name="t3-model text"/>
          <p:cNvSpPr txBox="1"/>
          <p:nvPr/>
        </p:nvSpPr>
        <p:spPr>
          <a:xfrm>
            <a:off x="812800" y="1940520"/>
            <a:ext cx="5232400"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Two 12 mm walls nearly touching in open blood, on a 0.1 mm grid. One wall is smooth or carries a connected mesh of grooves, 2 mm apart and 1.5 mm deep.</a:t>
            </a:r>
            <a:endParaRPr lang="en-US" sz="1400" dirty="0"/>
          </a:p>
        </p:txBody>
      </p:sp>
      <p:sp>
        <p:nvSpPr>
          <p:cNvPr id="5" name="t3-model text"/>
          <p:cNvSpPr txBox="1"/>
          <p:nvPr/>
        </p:nvSpPr>
        <p:spPr>
          <a:xfrm>
            <a:off x="812800" y="2814042"/>
            <a:ext cx="5232400"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The walls are either opened at a set speed (8 to 80 mm/s), or given the mass of real myocardium and pulled apart by a recoil stress while the blood pushes back on them (two way coupling).</a:t>
            </a:r>
            <a:endParaRPr lang="en-US" sz="1400" dirty="0"/>
          </a:p>
        </p:txBody>
      </p:sp>
      <p:sp>
        <p:nvSpPr>
          <p:cNvPr id="6" name="t3-model text"/>
          <p:cNvSpPr txBox="1"/>
          <p:nvPr/>
        </p:nvSpPr>
        <p:spPr>
          <a:xfrm>
            <a:off x="6299200" y="1508720"/>
            <a:ext cx="5232400" cy="330200"/>
          </a:xfrm>
          <a:prstGeom prst="rect">
            <a:avLst/>
          </a:prstGeom>
          <a:noFill/>
          <a:ln/>
        </p:spPr>
        <p:txBody>
          <a:bodyPr wrap="square" lIns="0" tIns="0" rIns="0" bIns="0" rtlCol="0" anchor="t"/>
          <a:lstStyle/>
          <a:p>
            <a:pPr algn="l" indent="0" marL="0">
              <a:lnSpc>
                <a:spcPts val="2400"/>
              </a:lnSpc>
              <a:buNone/>
            </a:pPr>
            <a:r>
              <a:rPr lang="en-US" sz="2000" b="1" dirty="0">
                <a:solidFill>
                  <a:srgbClr val="000000"/>
                </a:solidFill>
                <a:latin typeface="Times New Roman" pitchFamily="34" charset="0"/>
                <a:ea typeface="Times New Roman" pitchFamily="34" charset="-122"/>
                <a:cs typeface="Times New Roman" pitchFamily="34" charset="-120"/>
              </a:rPr>
              <a:t>Reduced model</a:t>
            </a:r>
            <a:endParaRPr lang="en-US" sz="2000" dirty="0"/>
          </a:p>
        </p:txBody>
      </p:sp>
      <p:sp>
        <p:nvSpPr>
          <p:cNvPr id="7" name="t3-model text"/>
          <p:cNvSpPr txBox="1"/>
          <p:nvPr/>
        </p:nvSpPr>
        <p:spPr>
          <a:xfrm>
            <a:off x="6299200" y="1940520"/>
            <a:ext cx="5232400" cy="309860"/>
          </a:xfrm>
          <a:prstGeom prst="rect">
            <a:avLst/>
          </a:prstGeom>
          <a:noFill/>
          <a:ln/>
        </p:spPr>
        <p:txBody>
          <a:bodyPr wrap="square" lIns="0" tIns="0" rIns="0" bIns="0" rtlCol="0" anchor="t"/>
          <a:lstStyle/>
          <a:p>
            <a:pPr algn="l" indent="0" marL="0">
              <a:lnSpc>
                <a:spcPts val="2240"/>
              </a:lnSpc>
              <a:buNone/>
            </a:pPr>
            <a:r>
              <a:rPr lang="en-US" sz="1600" i="1" dirty="0">
                <a:solidFill>
                  <a:srgbClr val="000000"/>
                </a:solidFill>
                <a:latin typeface="Times New Roman" pitchFamily="34" charset="0"/>
                <a:ea typeface="Times New Roman" pitchFamily="34" charset="-122"/>
                <a:cs typeface="Times New Roman" pitchFamily="34" charset="-120"/>
              </a:rPr>
              <a:t>F = −C(h) ḣ (r₀ + κ Re) − Mₐ(h) ḧ</a:t>
            </a:r>
            <a:endParaRPr lang="en-US" sz="1600" dirty="0"/>
          </a:p>
        </p:txBody>
      </p:sp>
      <p:sp>
        <p:nvSpPr>
          <p:cNvPr id="8" name="t3-model text"/>
          <p:cNvSpPr txBox="1"/>
          <p:nvPr/>
        </p:nvSpPr>
        <p:spPr>
          <a:xfrm>
            <a:off x="6299200" y="2351980"/>
            <a:ext cx="5232400"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C(h) is the viscous film resistance from Tier 1. Mₐ(h) is the added mass, the blood the walls must drag along as they move. κ Re corrects for fluid inertia and is fitted to the 3D runs.</a:t>
            </a:r>
            <a:endParaRPr lang="en-US" sz="1400" dirty="0"/>
          </a:p>
        </p:txBody>
      </p:sp>
      <p:sp>
        <p:nvSpPr>
          <p:cNvPr id="9" name="t3-model text"/>
          <p:cNvSpPr txBox="1"/>
          <p:nvPr/>
        </p:nvSpPr>
        <p:spPr>
          <a:xfrm>
            <a:off x="6299200" y="3225502"/>
            <a:ext cx="5232400" cy="52308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This cheap model can then run at 0.1 to 0.5 mm gaps, too thin for any 3D grid here.</a:t>
            </a:r>
            <a:endParaRPr lang="en-US" sz="1400" dirty="0"/>
          </a:p>
        </p:txBody>
      </p:sp>
      <p:sp>
        <p:nvSpPr>
          <p:cNvPr id="10" name="t3-model text"/>
          <p:cNvSpPr txBox="1"/>
          <p:nvPr/>
        </p:nvSpPr>
        <p:spPr>
          <a:xfrm>
            <a:off x="812800" y="3951784"/>
            <a:ext cx="10566400" cy="52308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Two solver fixes came first: the walls had been moving 12% too slowly, and the effective wall surface sat up to 0.85 cells off; both are now within 0.1 cell.</a:t>
            </a:r>
            <a:endParaRPr lang="en-US" sz="1400" dirty="0"/>
          </a:p>
        </p:txBody>
      </p:sp>
      <p:sp>
        <p:nvSpPr>
          <p:cNvPr id="11" name="t3-model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14 · Re is the squeeze Reynolds number, inertia relative to viscosity in the film; a CT derived 3D ventricle would need trabecular resolution imaging and HPC</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3-video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3D simulation: apposed walls pulled apart</a:t>
            </a:r>
            <a:endParaRPr lang="en-US" sz="3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812800" y="1702395"/>
            <a:ext cx="7366000" cy="3498850"/>
          </a:xfrm>
          <a:prstGeom prst="rect">
            <a:avLst/>
          </a:prstGeom>
        </p:spPr>
      </p:pic>
      <p:sp>
        <p:nvSpPr>
          <p:cNvPr id="4" name="t3-video text"/>
          <p:cNvSpPr txBox="1"/>
          <p:nvPr/>
        </p:nvSpPr>
        <p:spPr>
          <a:xfrm>
            <a:off x="8483600" y="1930797"/>
            <a:ext cx="2982468" cy="1020763"/>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Both walls start 0.6 mm apart and are pulled by the same 2 mmHg recoil. The coloured plane is the pressure in the film halfway between them.</a:t>
            </a:r>
            <a:endParaRPr lang="en-US" sz="1400" dirty="0"/>
          </a:p>
        </p:txBody>
      </p:sp>
      <p:sp>
        <p:nvSpPr>
          <p:cNvPr id="5" name="t3-video text"/>
          <p:cNvSpPr txBox="1"/>
          <p:nvPr/>
        </p:nvSpPr>
        <p:spPr>
          <a:xfrm>
            <a:off x="8483600" y="3078559"/>
            <a:ext cx="2982468" cy="771922"/>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Smooth wall:</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a deep bowl of suction spreads across the whole patch and holds the walls back.</a:t>
            </a:r>
            <a:endParaRPr lang="en-US" sz="1400" dirty="0"/>
          </a:p>
        </p:txBody>
      </p:sp>
      <p:sp>
        <p:nvSpPr>
          <p:cNvPr id="6" name="t3-video text"/>
          <p:cNvSpPr txBox="1"/>
          <p:nvPr/>
        </p:nvSpPr>
        <p:spPr>
          <a:xfrm>
            <a:off x="8483600" y="3977481"/>
            <a:ext cx="2982468" cy="1020763"/>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Grooved wall:</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the groove network breaks the film into small islands, so suction stays weak and the walls separate sooner.</a:t>
            </a:r>
            <a:endParaRPr lang="en-US" sz="1400" dirty="0"/>
          </a:p>
        </p:txBody>
      </p:sp>
      <p:sp>
        <p:nvSpPr>
          <p:cNvPr id="7" name="t3-video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15 · Two way coupled 3D run, 0.1 mm grid; upper wall cut away in front to show the film</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3-slice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3D simulation: how the grooves drain the film</a:t>
            </a:r>
            <a:endParaRPr lang="en-US" sz="3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988181" y="1483320"/>
            <a:ext cx="7015238" cy="3683000"/>
          </a:xfrm>
          <a:prstGeom prst="rect">
            <a:avLst/>
          </a:prstGeom>
        </p:spPr>
      </p:pic>
      <p:sp>
        <p:nvSpPr>
          <p:cNvPr id="4" name="t3-slice text"/>
          <p:cNvSpPr txBox="1"/>
          <p:nvPr/>
        </p:nvSpPr>
        <p:spPr>
          <a:xfrm>
            <a:off x="8483600" y="1603177"/>
            <a:ext cx="2982468"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A vertical cut through the gap as the walls open. Colour is pressure; arrows show where the blood flows.</a:t>
            </a:r>
            <a:endParaRPr lang="en-US" sz="1400" dirty="0"/>
          </a:p>
        </p:txBody>
      </p:sp>
      <p:sp>
        <p:nvSpPr>
          <p:cNvPr id="5" name="t3-slice text"/>
          <p:cNvSpPr txBox="1"/>
          <p:nvPr/>
        </p:nvSpPr>
        <p:spPr>
          <a:xfrm>
            <a:off x="8483600" y="2502098"/>
            <a:ext cx="2982468" cy="771922"/>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Smooth wall:</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blood travels all the way in from the rim, so strong suction builds in the middle.</a:t>
            </a:r>
            <a:endParaRPr lang="en-US" sz="1400" dirty="0"/>
          </a:p>
        </p:txBody>
      </p:sp>
      <p:sp>
        <p:nvSpPr>
          <p:cNvPr id="6" name="t3-slice text"/>
          <p:cNvSpPr txBox="1"/>
          <p:nvPr/>
        </p:nvSpPr>
        <p:spPr>
          <a:xfrm>
            <a:off x="8483600" y="3401020"/>
            <a:ext cx="2982468" cy="771922"/>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Grooved wall:</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blood arrives through the grooves and only spreads across the short flat lands between them.</a:t>
            </a:r>
            <a:endParaRPr lang="en-US" sz="1400" dirty="0"/>
          </a:p>
        </p:txBody>
      </p:sp>
      <p:sp>
        <p:nvSpPr>
          <p:cNvPr id="7" name="t3-slice text"/>
          <p:cNvSpPr txBox="1"/>
          <p:nvPr/>
        </p:nvSpPr>
        <p:spPr>
          <a:xfrm>
            <a:off x="8483600" y="4299942"/>
            <a:ext cx="2982468"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In 3D the grooves form a connected network open to the cavity, which a 2D slice like Tier 2 cannot show.</a:t>
            </a:r>
            <a:endParaRPr lang="en-US" sz="1400" dirty="0"/>
          </a:p>
        </p:txBody>
      </p:sp>
      <p:sp>
        <p:nvSpPr>
          <p:cNvPr id="8" name="t3-slice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16 · Vertical slice through a land, 0.1 mm grid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3-calibration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Checking Tier 1 against the full 3D simulation</a:t>
            </a:r>
            <a:endParaRPr lang="en-US" sz="3200" dirty="0"/>
          </a:p>
        </p:txBody>
      </p:sp>
      <p:pic>
        <p:nvPicPr>
          <p:cNvPr id="3" name="Image 0" descr="Resolved to Tier 1 force ratio versus squeeze Reynolds number for smooth and groove mesh walls with linear fits">    </p:cNvPr>
          <p:cNvPicPr>
            <a:picLocks noChangeAspect="1"/>
          </p:cNvPicPr>
          <p:nvPr/>
        </p:nvPicPr>
        <p:blipFill>
          <a:blip r:embed="rId1"/>
          <a:stretch>
            <a:fillRect/>
          </a:stretch>
        </p:blipFill>
        <p:spPr>
          <a:xfrm>
            <a:off x="2612571" y="1457920"/>
            <a:ext cx="6966857" cy="3048000"/>
          </a:xfrm>
          <a:prstGeom prst="rect">
            <a:avLst/>
          </a:prstGeom>
        </p:spPr>
      </p:pic>
      <p:sp>
        <p:nvSpPr>
          <p:cNvPr id="4" name="t3-calibration text"/>
          <p:cNvSpPr txBox="1"/>
          <p:nvPr/>
        </p:nvSpPr>
        <p:spPr>
          <a:xfrm>
            <a:off x="812800" y="4683720"/>
            <a:ext cx="10566400" cy="771922"/>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Each point is the film force from the 3D simulation divided by the Tier 1 prediction, against the squeeze Reynolds number Re; a ratio of 1 means Tier 1 is exact. </a:t>
            </a:r>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Smooth wall:</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1.14 − 0.026 Re, so Tier 1 is right to within about 7%, and inertia slightly lowers the suction rather than raising it. </a:t>
            </a:r>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Groove mesh:</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0.79 − 0.007 Re, so the real 3D network drains about 20% better than Tier 1 assumed.</a:t>
            </a:r>
            <a:endParaRPr lang="en-US" sz="1400" dirty="0"/>
          </a:p>
        </p:txBody>
      </p:sp>
      <p:sp>
        <p:nvSpPr>
          <p:cNvPr id="5" name="t3-calibration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17 · Added mass removed; ratios change under 5% between 0.2, 0.15 and 0.1 mm grids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3-fsi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When recoil pulls the walls, inertia sets the clock</a:t>
            </a:r>
            <a:endParaRPr lang="en-US" sz="3200" dirty="0"/>
          </a:p>
        </p:txBody>
      </p:sp>
      <p:pic>
        <p:nvPicPr>
          <p:cNvPr id="3" name="Image 0" descr="Gap versus time for resolved two way coupled runs against the reduced model and quasi static Tier 1, four cases">    </p:cNvPr>
          <p:cNvPicPr>
            <a:picLocks noChangeAspect="1"/>
          </p:cNvPicPr>
          <p:nvPr/>
        </p:nvPicPr>
        <p:blipFill>
          <a:blip r:embed="rId1"/>
          <a:stretch>
            <a:fillRect/>
          </a:stretch>
        </p:blipFill>
        <p:spPr>
          <a:xfrm>
            <a:off x="812800" y="1483320"/>
            <a:ext cx="5588000" cy="4191000"/>
          </a:xfrm>
          <a:prstGeom prst="rect">
            <a:avLst/>
          </a:prstGeom>
        </p:spPr>
      </p:pic>
      <p:sp>
        <p:nvSpPr>
          <p:cNvPr id="4" name="t3-fsi text"/>
          <p:cNvSpPr txBox="1"/>
          <p:nvPr/>
        </p:nvSpPr>
        <p:spPr>
          <a:xfrm>
            <a:off x="6756400" y="2230438"/>
            <a:ext cx="4761484" cy="52308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Nothing is prescribed here: a recoil stress pulls walls with the mass of real myocardium, and the film pushes back.</a:t>
            </a:r>
            <a:endParaRPr lang="en-US" sz="1400" dirty="0"/>
          </a:p>
        </p:txBody>
      </p:sp>
      <p:sp>
        <p:nvSpPr>
          <p:cNvPr id="5" name="t3-fsi text"/>
          <p:cNvSpPr txBox="1"/>
          <p:nvPr/>
        </p:nvSpPr>
        <p:spPr>
          <a:xfrm>
            <a:off x="6756400" y="2880519"/>
            <a:ext cx="4761484" cy="52308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Solid black is the full 3D simulation, dashed blue our reduced model, and dash dot orange Tier 1 on its own.</a:t>
            </a:r>
            <a:endParaRPr lang="en-US" sz="1400" dirty="0"/>
          </a:p>
        </p:txBody>
      </p:sp>
      <p:sp>
        <p:nvSpPr>
          <p:cNvPr id="6" name="t3-fsi text"/>
          <p:cNvSpPr txBox="1"/>
          <p:nvPr/>
        </p:nvSpPr>
        <p:spPr>
          <a:xfrm>
            <a:off x="6756400" y="3530600"/>
            <a:ext cx="4761484" cy="52308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The reduced model matches the 3D opening within 6 to 8% in all four cases; Tier 1 alone opens 72 to 84% too fast.</a:t>
            </a:r>
            <a:endParaRPr lang="en-US" sz="1400" dirty="0"/>
          </a:p>
        </p:txBody>
      </p:sp>
      <p:sp>
        <p:nvSpPr>
          <p:cNvPr id="7" name="t3-fsi text"/>
          <p:cNvSpPr txBox="1"/>
          <p:nvPr/>
        </p:nvSpPr>
        <p:spPr>
          <a:xfrm>
            <a:off x="6756400" y="4180681"/>
            <a:ext cx="4761484" cy="771922"/>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Takeaway:</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the mass of the wall and of the blood it drags along, not viscosity alone, sets the opening time. With the model validated, we can trust it at gaps too thin to simulate.</a:t>
            </a:r>
            <a:endParaRPr lang="en-US" sz="1400" dirty="0"/>
          </a:p>
        </p:txBody>
      </p:sp>
      <p:sp>
        <p:nvSpPr>
          <p:cNvPr id="8" name="t3-fsi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18 · Recoil 0.5 and 2 mmHg, walls 10.6 kg/m², resolvable gaps 0.6 to 1.8 mm</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3-apex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A smooth apex at near contact reopens late</a:t>
            </a:r>
            <a:endParaRPr lang="en-US" sz="3200" dirty="0"/>
          </a:p>
        </p:txBody>
      </p:sp>
      <p:pic>
        <p:nvPicPr>
          <p:cNvPr id="3" name="Image 0" descr="Apical crest gap versus time after mitral opening for the three ventricles and Tier 2 kinematics, recoil 2 mmHg, gap 0.2 mm">    </p:cNvPr>
          <p:cNvPicPr>
            <a:picLocks noChangeAspect="1"/>
          </p:cNvPicPr>
          <p:nvPr/>
        </p:nvPicPr>
        <p:blipFill>
          <a:blip r:embed="rId1"/>
          <a:stretch>
            <a:fillRect/>
          </a:stretch>
        </p:blipFill>
        <p:spPr>
          <a:xfrm>
            <a:off x="812800" y="1483320"/>
            <a:ext cx="5715000" cy="3492500"/>
          </a:xfrm>
          <a:prstGeom prst="rect">
            <a:avLst/>
          </a:prstGeom>
        </p:spPr>
      </p:pic>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883400" y="1483320"/>
          <a:ext cx="4495800" cy="914400"/>
        </p:xfrm>
        <a:graphic>
          <a:graphicData uri="http://schemas.openxmlformats.org/drawingml/2006/table">
            <a:tbl>
              <a:tblPr/>
              <a:tblGrid>
                <a:gridCol w="1798241"/>
                <a:gridCol w="1348680"/>
                <a:gridCol w="1348879"/>
              </a:tblGrid>
              <a:tr h="190500">
                <a:tc>
                  <a:txBody>
                    <a:bodyPr/>
                    <a:lstStyle/>
                    <a:p>
                      <a:pPr algn="l" indent="0" marL="0">
                        <a:buNone/>
                      </a:pPr>
                      <a:r>
                        <a:rPr lang="en-US" sz="1300" b="1" dirty="0">
                          <a:solidFill>
                            <a:srgbClr val="000000"/>
                          </a:solidFill>
                          <a:latin typeface="Times New Roman" pitchFamily="34" charset="0"/>
                          <a:ea typeface="Times New Roman" pitchFamily="34" charset="-122"/>
                          <a:cs typeface="Times New Roman" pitchFamily="34" charset="-120"/>
                        </a:rPr>
                        <a:t>Open to 2 mm, ms</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b="1" dirty="0">
                          <a:solidFill>
                            <a:srgbClr val="000000"/>
                          </a:solidFill>
                          <a:latin typeface="Times New Roman" pitchFamily="34" charset="0"/>
                          <a:ea typeface="Times New Roman" pitchFamily="34" charset="-122"/>
                          <a:cs typeface="Times New Roman" pitchFamily="34" charset="-120"/>
                        </a:rPr>
                        <a:t>2 mmHg, 0.2 mm</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b="1" dirty="0">
                          <a:solidFill>
                            <a:srgbClr val="000000"/>
                          </a:solidFill>
                          <a:latin typeface="Times New Roman" pitchFamily="34" charset="0"/>
                          <a:ea typeface="Times New Roman" pitchFamily="34" charset="-122"/>
                          <a:cs typeface="Times New Roman" pitchFamily="34" charset="-120"/>
                        </a:rPr>
                        <a:t>1 mmHg, 0.1 mm</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Walls only</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17</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23</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Trabeculated</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24</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32</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Smooth, vol.</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21</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28</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Smooth, crest</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54</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211</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r h="190500">
                <a:tc>
                  <a:txBody>
                    <a:bodyPr/>
                    <a:lstStyle/>
                    <a:p>
                      <a:pPr algn="l" indent="0" marL="0">
                        <a:buNone/>
                      </a:pPr>
                      <a:r>
                        <a:rPr lang="en-US" sz="1300" dirty="0">
                          <a:solidFill>
                            <a:srgbClr val="000000"/>
                          </a:solidFill>
                          <a:latin typeface="Times New Roman" pitchFamily="34" charset="0"/>
                          <a:ea typeface="Times New Roman" pitchFamily="34" charset="-122"/>
                          <a:cs typeface="Times New Roman" pitchFamily="34" charset="-120"/>
                        </a:rPr>
                        <a:t>Tier 2 assumed</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38</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c>
                  <a:txBody>
                    <a:bodyPr/>
                    <a:lstStyle/>
                    <a:p>
                      <a:pPr algn="r" indent="0" marL="0">
                        <a:buNone/>
                      </a:pPr>
                      <a:r>
                        <a:rPr lang="en-US" sz="1300" dirty="0">
                          <a:solidFill>
                            <a:srgbClr val="000000"/>
                          </a:solidFill>
                          <a:latin typeface="Times New Roman" pitchFamily="34" charset="0"/>
                          <a:ea typeface="Times New Roman" pitchFamily="34" charset="-122"/>
                          <a:cs typeface="Times New Roman" pitchFamily="34" charset="-120"/>
                        </a:rPr>
                        <a:t>39</a:t>
                      </a:r>
                      <a:endParaRPr lang="en-US" sz="1300" dirty="0">
                        <a:latin typeface="Times New Roman" charset="0"/>
                        <a:ea typeface="Times New Roman" charset="0"/>
                        <a:cs typeface="Times New Roman" charset="0"/>
                      </a:endParaRPr>
                    </a:p>
                  </a:txBody>
                  <a:tcPr marL="0" marR="36576" marT="0" marB="0" anchor="ctr">
                    <a:lnL w="0" cap="flat" cmpd="sng" algn="ctr">
                      <a:noFill/>
                    </a:lnL>
                    <a:lnR w="0" cap="flat" cmpd="sng" algn="ctr">
                      <a:noFill/>
                    </a:lnR>
                    <a:lnT w="0" cap="flat" cmpd="sng" algn="ctr">
                      <a:noFill/>
                    </a:lnT>
                    <a:lnB w="0" cap="flat" cmpd="sng" algn="ctr">
                      <a:noFill/>
                    </a:lnB>
                  </a:tcPr>
                </a:tc>
              </a:tr>
            </a:tbl>
          </a:graphicData>
        </a:graphic>
      </p:graphicFrame>
      <p:sp>
        <p:nvSpPr>
          <p:cNvPr id="5" name="t3-apex text"/>
          <p:cNvSpPr txBox="1"/>
          <p:nvPr/>
        </p:nvSpPr>
        <p:spPr>
          <a:xfrm>
            <a:off x="6883400" y="2804120"/>
            <a:ext cx="4630674" cy="718641"/>
          </a:xfrm>
          <a:prstGeom prst="rect">
            <a:avLst/>
          </a:prstGeom>
          <a:noFill/>
          <a:ln/>
        </p:spPr>
        <p:txBody>
          <a:bodyPr wrap="square" lIns="0" tIns="0" rIns="0" bIns="0" rtlCol="0" anchor="t"/>
          <a:lstStyle/>
          <a:p>
            <a:pPr algn="l" indent="0" marL="0">
              <a:lnSpc>
                <a:spcPts val="1820"/>
              </a:lnSpc>
              <a:buNone/>
            </a:pPr>
            <a:r>
              <a:rPr lang="en-US" sz="1300" dirty="0">
                <a:solidFill>
                  <a:srgbClr val="000000"/>
                </a:solidFill>
                <a:latin typeface="Times New Roman" pitchFamily="34" charset="0"/>
                <a:ea typeface="Times New Roman" pitchFamily="34" charset="-122"/>
                <a:cs typeface="Times New Roman" pitchFamily="34" charset="-120"/>
              </a:rPr>
              <a:t>Time for the apex to open to 2 mm after the mitral valve opens, for two cases of recoil stress and starting gap. Walls only is the fastest possible opening, with no film at all.</a:t>
            </a:r>
            <a:endParaRPr lang="en-US" sz="1300" dirty="0"/>
          </a:p>
        </p:txBody>
      </p:sp>
      <p:sp>
        <p:nvSpPr>
          <p:cNvPr id="6" name="t3-apex text"/>
          <p:cNvSpPr txBox="1"/>
          <p:nvPr/>
        </p:nvSpPr>
        <p:spPr>
          <a:xfrm>
            <a:off x="812800" y="5179020"/>
            <a:ext cx="10566400" cy="27424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The smooth crest apex reopens 8 to 189 ms late, while the trabeculated apex stays within 3 to 9 ms of the walls only limit.</a:t>
            </a:r>
            <a:endParaRPr lang="en-US" sz="1400" dirty="0"/>
          </a:p>
        </p:txBody>
      </p:sp>
      <p:sp>
        <p:nvSpPr>
          <p:cNvPr id="7" name="t3-apex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19 · Calibrated reduced model; patch radius 8.75 mm, walls 10.6 kg/m², recoil rising over 20 ms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verdict text"/>
          <p:cNvSpPr txBox="1"/>
          <p:nvPr/>
        </p:nvSpPr>
        <p:spPr>
          <a:xfrm>
            <a:off x="812800" y="1335683"/>
            <a:ext cx="10566400" cy="260350"/>
          </a:xfrm>
          <a:prstGeom prst="rect">
            <a:avLst/>
          </a:prstGeom>
          <a:noFill/>
          <a:ln/>
        </p:spPr>
        <p:txBody>
          <a:bodyPr wrap="square" lIns="0" tIns="0" rIns="0" bIns="0" rtlCol="0" anchor="t"/>
          <a:lstStyle/>
          <a:p>
            <a:pPr algn="l" indent="0" marL="0">
              <a:lnSpc>
                <a:spcPts val="1840"/>
              </a:lnSpc>
              <a:buNone/>
            </a:pPr>
            <a:r>
              <a:rPr lang="en-US" sz="1600" spc="200" kern="0" dirty="0">
                <a:solidFill>
                  <a:srgbClr val="000000"/>
                </a:solidFill>
                <a:latin typeface="Times New Roman" pitchFamily="34" charset="0"/>
                <a:ea typeface="Times New Roman" pitchFamily="34" charset="-122"/>
                <a:cs typeface="Times New Roman" pitchFamily="34" charset="-120"/>
              </a:rPr>
              <a:t>WHAT THE THREE TIERS SUPPORT</a:t>
            </a:r>
            <a:endParaRPr lang="en-US" sz="1600" dirty="0"/>
          </a:p>
        </p:txBody>
      </p:sp>
      <p:sp>
        <p:nvSpPr>
          <p:cNvPr id="3" name="verdict text"/>
          <p:cNvSpPr txBox="1"/>
          <p:nvPr/>
        </p:nvSpPr>
        <p:spPr>
          <a:xfrm>
            <a:off x="812800" y="1850033"/>
            <a:ext cx="10566400" cy="1193800"/>
          </a:xfrm>
          <a:prstGeom prst="rect">
            <a:avLst/>
          </a:prstGeom>
          <a:noFill/>
          <a:ln/>
        </p:spPr>
        <p:txBody>
          <a:bodyPr wrap="square" lIns="0" tIns="0" rIns="0" bIns="0" rtlCol="0" anchor="t"/>
          <a:lstStyle/>
          <a:p>
            <a:pPr algn="l" indent="0" marL="0">
              <a:lnSpc>
                <a:spcPts val="4600"/>
              </a:lnSpc>
              <a:buNone/>
            </a:pPr>
            <a:r>
              <a:rPr lang="en-US" sz="4000" b="1" dirty="0">
                <a:solidFill>
                  <a:srgbClr val="000000"/>
                </a:solidFill>
                <a:latin typeface="Times New Roman" pitchFamily="34" charset="0"/>
                <a:ea typeface="Times New Roman" pitchFamily="34" charset="-122"/>
                <a:cs typeface="Times New Roman" pitchFamily="34" charset="-120"/>
              </a:rPr>
              <a:t>Trabeculae let the apex empty to near contact and still reopen on time.</a:t>
            </a:r>
            <a:endParaRPr lang="en-US" sz="4000" dirty="0"/>
          </a:p>
        </p:txBody>
      </p:sp>
      <p:sp>
        <p:nvSpPr>
          <p:cNvPr id="4" name="verdict text"/>
          <p:cNvSpPr txBox="1"/>
          <p:nvPr/>
        </p:nvSpPr>
        <p:spPr>
          <a:xfrm>
            <a:off x="812800" y="3297833"/>
            <a:ext cx="3418433" cy="1269603"/>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The film is real.</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A smooth wall emptied to a few tenths of a millimetre needs far more pressure to reopen than diastole supplies, and the 3D simulation confirms the Tier 1 numbers.</a:t>
            </a:r>
            <a:endParaRPr lang="en-US" sz="1400" dirty="0"/>
          </a:p>
        </p:txBody>
      </p:sp>
      <p:sp>
        <p:nvSpPr>
          <p:cNvPr id="5" name="verdict text"/>
          <p:cNvSpPr txBox="1"/>
          <p:nvPr/>
        </p:nvSpPr>
        <p:spPr>
          <a:xfrm>
            <a:off x="4436467" y="3297833"/>
            <a:ext cx="3418535" cy="1269603"/>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Grooves drain it.</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Trabecular recesses work as connected drainage channels that keep the film near 1 mmHg, and in 3D they work even better than Tier 1 predicted.</a:t>
            </a:r>
            <a:endParaRPr lang="en-US" sz="1400" dirty="0"/>
          </a:p>
        </p:txBody>
      </p:sp>
      <p:sp>
        <p:nvSpPr>
          <p:cNvPr id="6" name="verdict text"/>
          <p:cNvSpPr txBox="1"/>
          <p:nvPr/>
        </p:nvSpPr>
        <p:spPr>
          <a:xfrm>
            <a:off x="8060234" y="3297833"/>
            <a:ext cx="3418535" cy="1269603"/>
          </a:xfrm>
          <a:prstGeom prst="rect">
            <a:avLst/>
          </a:prstGeom>
          <a:noFill/>
          <a:ln/>
        </p:spPr>
        <p:txBody>
          <a:bodyPr wrap="square" lIns="0" tIns="0" rIns="0" bIns="0" rtlCol="0" anchor="t"/>
          <a:lstStyle/>
          <a:p>
            <a:pPr algn="l" indent="0" marL="0">
              <a:lnSpc>
                <a:spcPts val="1960"/>
              </a:lnSpc>
              <a:buNone/>
            </a:pPr>
            <a:r>
              <a:rPr lang="en-US" sz="1400" b="1" dirty="0">
                <a:solidFill>
                  <a:srgbClr val="000000"/>
                </a:solidFill>
                <a:latin typeface="Times New Roman" pitchFamily="34" charset="0"/>
                <a:ea typeface="Times New Roman" pitchFamily="34" charset="-122"/>
                <a:cs typeface="Times New Roman" pitchFamily="34" charset="-120"/>
              </a:rPr>
              <a:t>The cost is delay.</a:t>
            </a:r>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 Pulled by realistic recoil, a smooth apex at 0.1 to 0.2 mm stays shut tens to hundreds of ms into filling; a trabeculated apex opens nearly on time.</a:t>
            </a:r>
            <a:endParaRPr lang="en-US" sz="1400" dirty="0"/>
          </a:p>
        </p:txBody>
      </p:sp>
      <p:sp>
        <p:nvSpPr>
          <p:cNvPr id="7" name="verdict text"/>
          <p:cNvSpPr txBox="1"/>
          <p:nvPr/>
        </p:nvSpPr>
        <p:spPr>
          <a:xfrm>
            <a:off x="812800" y="4821436"/>
            <a:ext cx="10566400" cy="523081"/>
          </a:xfrm>
          <a:prstGeom prst="rect">
            <a:avLst/>
          </a:prstGeom>
          <a:noFill/>
          <a:ln/>
        </p:spPr>
        <p:txBody>
          <a:bodyPr wrap="square" lIns="0" tIns="0" rIns="0" bIns="0" rtlCol="0" anchor="t"/>
          <a:lstStyle/>
          <a:p>
            <a:pPr algn="l" indent="0" marL="0">
              <a:lnSpc>
                <a:spcPts val="1960"/>
              </a:lnSpc>
              <a:buNone/>
            </a:pPr>
            <a:r>
              <a:rPr lang="en-US" sz="1400" dirty="0">
                <a:solidFill>
                  <a:srgbClr val="000000"/>
                </a:solidFill>
                <a:latin typeface="Times New Roman" pitchFamily="34" charset="0"/>
                <a:ea typeface="Times New Roman" pitchFamily="34" charset="-122"/>
                <a:cs typeface="Times New Roman" pitchFamily="34" charset="-120"/>
              </a:rPr>
              <a:t>One caveat: a smooth heart that simply empties less also avoids suction. Compared with it, trabeculae cost slightly more energy to fill but wash out old blood better.</a:t>
            </a:r>
            <a:endParaRPr lang="en-US" sz="1400" dirty="0"/>
          </a:p>
        </p:txBody>
      </p:sp>
      <p:sp>
        <p:nvSpPr>
          <p:cNvPr id="8" name="verdict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limits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Limitations and next steps</a:t>
            </a:r>
            <a:endParaRPr lang="en-US" sz="3200" dirty="0"/>
          </a:p>
        </p:txBody>
      </p:sp>
      <p:sp>
        <p:nvSpPr>
          <p:cNvPr id="3" name="limits text"/>
          <p:cNvSpPr txBox="1"/>
          <p:nvPr/>
        </p:nvSpPr>
        <p:spPr>
          <a:xfrm>
            <a:off x="812800" y="1584920"/>
            <a:ext cx="5232400" cy="330200"/>
          </a:xfrm>
          <a:prstGeom prst="rect">
            <a:avLst/>
          </a:prstGeom>
          <a:noFill/>
          <a:ln/>
        </p:spPr>
        <p:txBody>
          <a:bodyPr wrap="square" lIns="0" tIns="0" rIns="0" bIns="0" rtlCol="0" anchor="t"/>
          <a:lstStyle/>
          <a:p>
            <a:pPr algn="l" indent="0" marL="0">
              <a:lnSpc>
                <a:spcPts val="2400"/>
              </a:lnSpc>
              <a:buNone/>
            </a:pPr>
            <a:r>
              <a:rPr lang="en-US" sz="2000" b="1" dirty="0">
                <a:solidFill>
                  <a:srgbClr val="000000"/>
                </a:solidFill>
                <a:latin typeface="Times New Roman" pitchFamily="34" charset="0"/>
                <a:ea typeface="Times New Roman" pitchFamily="34" charset="-122"/>
                <a:cs typeface="Times New Roman" pitchFamily="34" charset="-120"/>
              </a:rPr>
              <a:t>Limits</a:t>
            </a:r>
            <a:endParaRPr lang="en-US" sz="2000" dirty="0"/>
          </a:p>
        </p:txBody>
      </p:sp>
      <p:sp>
        <p:nvSpPr>
          <p:cNvPr id="4" name="limits text"/>
          <p:cNvSpPr txBox="1"/>
          <p:nvPr/>
        </p:nvSpPr>
        <p:spPr>
          <a:xfrm>
            <a:off x="812800" y="2016720"/>
            <a:ext cx="5232400" cy="292100"/>
          </a:xfrm>
          <a:prstGeom prst="rect">
            <a:avLst/>
          </a:prstGeom>
          <a:noFill/>
          <a:ln/>
        </p:spPr>
        <p:txBody>
          <a:bodyPr wrap="square" lIns="0" tIns="0" rIns="0" bIns="0" rtlCol="0" anchor="t"/>
          <a:lstStyle/>
          <a:p>
            <a:pPr algn="l" marL="228600" indent="-228600">
              <a:lnSpc>
                <a:spcPts val="2100"/>
              </a:lnSpc>
              <a:buSzPct val="100000"/>
              <a:buChar char="•"/>
            </a:pPr>
            <a:r>
              <a:rPr lang="en-US" sz="1500" dirty="0">
                <a:solidFill>
                  <a:srgbClr val="000000"/>
                </a:solidFill>
                <a:latin typeface="Times New Roman" pitchFamily="34" charset="0"/>
                <a:ea typeface="Times New Roman" pitchFamily="34" charset="-122"/>
                <a:cs typeface="Times New Roman" pitchFamily="34" charset="-120"/>
              </a:rPr>
              <a:t>Tier 2 is a 2D slice with prescribed wall motion.</a:t>
            </a:r>
            <a:endParaRPr lang="en-US" sz="1500" dirty="0"/>
          </a:p>
        </p:txBody>
      </p:sp>
      <p:sp>
        <p:nvSpPr>
          <p:cNvPr id="5" name="limits text"/>
          <p:cNvSpPr txBox="1"/>
          <p:nvPr/>
        </p:nvSpPr>
        <p:spPr>
          <a:xfrm>
            <a:off x="812800" y="2283420"/>
            <a:ext cx="5232400" cy="558800"/>
          </a:xfrm>
          <a:prstGeom prst="rect">
            <a:avLst/>
          </a:prstGeom>
          <a:noFill/>
          <a:ln/>
        </p:spPr>
        <p:txBody>
          <a:bodyPr wrap="square" lIns="0" tIns="0" rIns="0" bIns="0" rtlCol="0" anchor="t"/>
          <a:lstStyle/>
          <a:p>
            <a:pPr algn="l" marL="228600" indent="-228600">
              <a:lnSpc>
                <a:spcPts val="2100"/>
              </a:lnSpc>
              <a:buSzPct val="100000"/>
              <a:buChar char="•"/>
            </a:pPr>
            <a:r>
              <a:rPr lang="en-US" sz="1500" dirty="0">
                <a:solidFill>
                  <a:srgbClr val="000000"/>
                </a:solidFill>
                <a:latin typeface="Times New Roman" pitchFamily="34" charset="0"/>
                <a:ea typeface="Times New Roman" pitchFamily="34" charset="-122"/>
                <a:cs typeface="Times New Roman" pitchFamily="34" charset="-120"/>
              </a:rPr>
              <a:t>Tier 3 is a 12 mm patch where only one wall is grooved, and the walls are rigid.</a:t>
            </a:r>
            <a:endParaRPr lang="en-US" sz="1500" dirty="0"/>
          </a:p>
        </p:txBody>
      </p:sp>
      <p:sp>
        <p:nvSpPr>
          <p:cNvPr id="6" name="limits text"/>
          <p:cNvSpPr txBox="1"/>
          <p:nvPr/>
        </p:nvSpPr>
        <p:spPr>
          <a:xfrm>
            <a:off x="812800" y="2816820"/>
            <a:ext cx="5232400" cy="558800"/>
          </a:xfrm>
          <a:prstGeom prst="rect">
            <a:avLst/>
          </a:prstGeom>
          <a:noFill/>
          <a:ln/>
        </p:spPr>
        <p:txBody>
          <a:bodyPr wrap="square" lIns="0" tIns="0" rIns="0" bIns="0" rtlCol="0" anchor="t"/>
          <a:lstStyle/>
          <a:p>
            <a:pPr algn="l" marL="228600" indent="-228600">
              <a:lnSpc>
                <a:spcPts val="2100"/>
              </a:lnSpc>
              <a:buSzPct val="100000"/>
              <a:buChar char="•"/>
            </a:pPr>
            <a:r>
              <a:rPr lang="en-US" sz="1500" dirty="0">
                <a:solidFill>
                  <a:srgbClr val="000000"/>
                </a:solidFill>
                <a:latin typeface="Times New Roman" pitchFamily="34" charset="0"/>
                <a:ea typeface="Times New Roman" pitchFamily="34" charset="-122"/>
                <a:cs typeface="Times New Roman" pitchFamily="34" charset="-120"/>
              </a:rPr>
              <a:t>Recoil stress and wall mass are order of magnitude estimates, not measurements.</a:t>
            </a:r>
            <a:endParaRPr lang="en-US" sz="1500" dirty="0"/>
          </a:p>
        </p:txBody>
      </p:sp>
      <p:sp>
        <p:nvSpPr>
          <p:cNvPr id="7" name="limits text"/>
          <p:cNvSpPr txBox="1"/>
          <p:nvPr/>
        </p:nvSpPr>
        <p:spPr>
          <a:xfrm>
            <a:off x="812800" y="3350220"/>
            <a:ext cx="5232400" cy="558800"/>
          </a:xfrm>
          <a:prstGeom prst="rect">
            <a:avLst/>
          </a:prstGeom>
          <a:noFill/>
          <a:ln/>
        </p:spPr>
        <p:txBody>
          <a:bodyPr wrap="square" lIns="0" tIns="0" rIns="0" bIns="0" rtlCol="0" anchor="t"/>
          <a:lstStyle/>
          <a:p>
            <a:pPr algn="l" marL="228600" indent="-228600">
              <a:lnSpc>
                <a:spcPts val="2100"/>
              </a:lnSpc>
              <a:buSzPct val="100000"/>
              <a:buChar char="•"/>
            </a:pPr>
            <a:r>
              <a:rPr lang="en-US" sz="1500" dirty="0">
                <a:solidFill>
                  <a:srgbClr val="000000"/>
                </a:solidFill>
                <a:latin typeface="Times New Roman" pitchFamily="34" charset="0"/>
                <a:ea typeface="Times New Roman" pitchFamily="34" charset="-122"/>
                <a:cs typeface="Times New Roman" pitchFamily="34" charset="-120"/>
              </a:rPr>
              <a:t>The 3D calibration rests on six fits per surface, with 8 to 12% scatter.</a:t>
            </a:r>
            <a:endParaRPr lang="en-US" sz="1500" dirty="0"/>
          </a:p>
        </p:txBody>
      </p:sp>
      <p:sp>
        <p:nvSpPr>
          <p:cNvPr id="8" name="limits text"/>
          <p:cNvSpPr txBox="1"/>
          <p:nvPr/>
        </p:nvSpPr>
        <p:spPr>
          <a:xfrm>
            <a:off x="6299200" y="1584920"/>
            <a:ext cx="5232400" cy="330200"/>
          </a:xfrm>
          <a:prstGeom prst="rect">
            <a:avLst/>
          </a:prstGeom>
          <a:noFill/>
          <a:ln/>
        </p:spPr>
        <p:txBody>
          <a:bodyPr wrap="square" lIns="0" tIns="0" rIns="0" bIns="0" rtlCol="0" anchor="t"/>
          <a:lstStyle/>
          <a:p>
            <a:pPr algn="l" indent="0" marL="0">
              <a:lnSpc>
                <a:spcPts val="2400"/>
              </a:lnSpc>
              <a:buNone/>
            </a:pPr>
            <a:r>
              <a:rPr lang="en-US" sz="2000" b="1" dirty="0">
                <a:solidFill>
                  <a:srgbClr val="000000"/>
                </a:solidFill>
                <a:latin typeface="Times New Roman" pitchFamily="34" charset="0"/>
                <a:ea typeface="Times New Roman" pitchFamily="34" charset="-122"/>
                <a:cs typeface="Times New Roman" pitchFamily="34" charset="-120"/>
              </a:rPr>
              <a:t>Next</a:t>
            </a:r>
            <a:endParaRPr lang="en-US" sz="2000" dirty="0"/>
          </a:p>
        </p:txBody>
      </p:sp>
      <p:sp>
        <p:nvSpPr>
          <p:cNvPr id="9" name="limits text"/>
          <p:cNvSpPr txBox="1"/>
          <p:nvPr/>
        </p:nvSpPr>
        <p:spPr>
          <a:xfrm>
            <a:off x="6299200" y="2016720"/>
            <a:ext cx="5232400" cy="558800"/>
          </a:xfrm>
          <a:prstGeom prst="rect">
            <a:avLst/>
          </a:prstGeom>
          <a:noFill/>
          <a:ln/>
        </p:spPr>
        <p:txBody>
          <a:bodyPr wrap="square" lIns="0" tIns="0" rIns="0" bIns="0" rtlCol="0" anchor="t"/>
          <a:lstStyle/>
          <a:p>
            <a:pPr algn="l" marL="228600" indent="-228600">
              <a:lnSpc>
                <a:spcPts val="2100"/>
              </a:lnSpc>
              <a:buSzPct val="100000"/>
              <a:buChar char="•"/>
            </a:pPr>
            <a:r>
              <a:rPr lang="en-US" sz="1500" dirty="0">
                <a:solidFill>
                  <a:srgbClr val="000000"/>
                </a:solidFill>
                <a:latin typeface="Times New Roman" pitchFamily="34" charset="0"/>
                <a:ea typeface="Times New Roman" pitchFamily="34" charset="-122"/>
                <a:cs typeface="Times New Roman" pitchFamily="34" charset="-120"/>
              </a:rPr>
              <a:t>Let the Tier 2 apex open under recoil instead of on a fixed schedule.</a:t>
            </a:r>
            <a:endParaRPr lang="en-US" sz="1500" dirty="0"/>
          </a:p>
        </p:txBody>
      </p:sp>
      <p:sp>
        <p:nvSpPr>
          <p:cNvPr id="10" name="limits text"/>
          <p:cNvSpPr txBox="1"/>
          <p:nvPr/>
        </p:nvSpPr>
        <p:spPr>
          <a:xfrm>
            <a:off x="6299200" y="2550120"/>
            <a:ext cx="5232400" cy="558800"/>
          </a:xfrm>
          <a:prstGeom prst="rect">
            <a:avLst/>
          </a:prstGeom>
          <a:noFill/>
          <a:ln/>
        </p:spPr>
        <p:txBody>
          <a:bodyPr wrap="square" lIns="0" tIns="0" rIns="0" bIns="0" rtlCol="0" anchor="t"/>
          <a:lstStyle/>
          <a:p>
            <a:pPr algn="l" marL="228600" indent="-228600">
              <a:lnSpc>
                <a:spcPts val="2100"/>
              </a:lnSpc>
              <a:buSzPct val="100000"/>
              <a:buChar char="•"/>
            </a:pPr>
            <a:r>
              <a:rPr lang="en-US" sz="1500" dirty="0">
                <a:solidFill>
                  <a:srgbClr val="000000"/>
                </a:solidFill>
                <a:latin typeface="Times New Roman" pitchFamily="34" charset="0"/>
                <a:ea typeface="Times New Roman" pitchFamily="34" charset="-122"/>
                <a:cs typeface="Times New Roman" pitchFamily="34" charset="-120"/>
              </a:rPr>
              <a:t>Groove both walls, with irregular and tapered recesses like real trabeculae.</a:t>
            </a:r>
            <a:endParaRPr lang="en-US" sz="1500" dirty="0"/>
          </a:p>
        </p:txBody>
      </p:sp>
      <p:sp>
        <p:nvSpPr>
          <p:cNvPr id="11" name="limits text"/>
          <p:cNvSpPr txBox="1"/>
          <p:nvPr/>
        </p:nvSpPr>
        <p:spPr>
          <a:xfrm>
            <a:off x="6299200" y="3083520"/>
            <a:ext cx="5232400" cy="558800"/>
          </a:xfrm>
          <a:prstGeom prst="rect">
            <a:avLst/>
          </a:prstGeom>
          <a:noFill/>
          <a:ln/>
        </p:spPr>
        <p:txBody>
          <a:bodyPr wrap="square" lIns="0" tIns="0" rIns="0" bIns="0" rtlCol="0" anchor="t"/>
          <a:lstStyle/>
          <a:p>
            <a:pPr algn="l" marL="228600" indent="-228600">
              <a:lnSpc>
                <a:spcPts val="2100"/>
              </a:lnSpc>
              <a:buSzPct val="100000"/>
              <a:buChar char="•"/>
            </a:pPr>
            <a:r>
              <a:rPr lang="en-US" sz="1500" dirty="0">
                <a:solidFill>
                  <a:srgbClr val="000000"/>
                </a:solidFill>
                <a:latin typeface="Times New Roman" pitchFamily="34" charset="0"/>
                <a:ea typeface="Times New Roman" pitchFamily="34" charset="-122"/>
                <a:cs typeface="Times New Roman" pitchFamily="34" charset="-120"/>
              </a:rPr>
              <a:t>Trabecular resolution imaging (ex vivo MRI, CT) for a 3D ventricle.</a:t>
            </a:r>
            <a:endParaRPr lang="en-US" sz="1500" dirty="0"/>
          </a:p>
        </p:txBody>
      </p:sp>
      <p:sp>
        <p:nvSpPr>
          <p:cNvPr id="12" name="limits text"/>
          <p:cNvSpPr txBox="1"/>
          <p:nvPr/>
        </p:nvSpPr>
        <p:spPr>
          <a:xfrm>
            <a:off x="6299200" y="3616920"/>
            <a:ext cx="5232400" cy="558800"/>
          </a:xfrm>
          <a:prstGeom prst="rect">
            <a:avLst/>
          </a:prstGeom>
          <a:noFill/>
          <a:ln/>
        </p:spPr>
        <p:txBody>
          <a:bodyPr wrap="square" lIns="0" tIns="0" rIns="0" bIns="0" rtlCol="0" anchor="t"/>
          <a:lstStyle/>
          <a:p>
            <a:pPr algn="l" marL="228600" indent="-228600">
              <a:lnSpc>
                <a:spcPts val="2100"/>
              </a:lnSpc>
              <a:buSzPct val="100000"/>
              <a:buChar char="•"/>
            </a:pPr>
            <a:r>
              <a:rPr lang="en-US" sz="1500" dirty="0">
                <a:solidFill>
                  <a:srgbClr val="000000"/>
                </a:solidFill>
                <a:latin typeface="Times New Roman" pitchFamily="34" charset="0"/>
                <a:ea typeface="Times New Roman" pitchFamily="34" charset="-122"/>
                <a:cs typeface="Times New Roman" pitchFamily="34" charset="-120"/>
              </a:rPr>
              <a:t>Measure how close the apical walls actually come at end systole in vivo.</a:t>
            </a:r>
            <a:endParaRPr lang="en-US" sz="1500" dirty="0"/>
          </a:p>
        </p:txBody>
      </p:sp>
      <p:sp>
        <p:nvSpPr>
          <p:cNvPr id="13" name="limits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references text"/>
          <p:cNvSpPr txBox="1"/>
          <p:nvPr/>
        </p:nvSpPr>
        <p:spPr>
          <a:xfrm>
            <a:off x="812800" y="812800"/>
            <a:ext cx="10566400" cy="492720"/>
          </a:xfrm>
          <a:prstGeom prst="rect">
            <a:avLst/>
          </a:prstGeom>
          <a:noFill/>
          <a:ln/>
        </p:spPr>
        <p:txBody>
          <a:bodyPr wrap="square" lIns="0" tIns="0" rIns="0" bIns="0" rtlCol="0" anchor="t"/>
          <a:lstStyle/>
          <a:p>
            <a:pPr algn="l" indent="0" marL="0">
              <a:lnSpc>
                <a:spcPts val="3680"/>
              </a:lnSpc>
              <a:buNone/>
            </a:pPr>
            <a:r>
              <a:rPr lang="en-US" sz="3200" b="1" dirty="0">
                <a:solidFill>
                  <a:srgbClr val="000000"/>
                </a:solidFill>
                <a:latin typeface="Times New Roman" pitchFamily="34" charset="0"/>
                <a:ea typeface="Times New Roman" pitchFamily="34" charset="-122"/>
                <a:cs typeface="Times New Roman" pitchFamily="34" charset="-120"/>
              </a:rPr>
              <a:t>References</a:t>
            </a:r>
            <a:endParaRPr lang="en-US" sz="3200" dirty="0"/>
          </a:p>
        </p:txBody>
      </p:sp>
      <p:sp>
        <p:nvSpPr>
          <p:cNvPr id="3" name="references text"/>
          <p:cNvSpPr txBox="1"/>
          <p:nvPr/>
        </p:nvSpPr>
        <p:spPr>
          <a:xfrm>
            <a:off x="812800" y="1483320"/>
            <a:ext cx="5258562" cy="642441"/>
          </a:xfrm>
          <a:prstGeom prst="rect">
            <a:avLst/>
          </a:prstGeom>
          <a:noFill/>
          <a:ln/>
        </p:spPr>
        <p:txBody>
          <a:bodyPr wrap="square" lIns="0" tIns="0" rIns="0" bIns="0" rtlCol="0" anchor="t"/>
          <a:lstStyle/>
          <a:p>
            <a:pPr algn="l" indent="0" marL="0">
              <a:lnSpc>
                <a:spcPts val="1620"/>
              </a:lnSpc>
              <a:buNone/>
            </a:pPr>
            <a:r>
              <a:rPr lang="en-US" sz="1200" dirty="0">
                <a:solidFill>
                  <a:srgbClr val="000000"/>
                </a:solidFill>
                <a:latin typeface="Times New Roman" pitchFamily="34" charset="0"/>
                <a:ea typeface="Times New Roman" pitchFamily="34" charset="-122"/>
                <a:cs typeface="Times New Roman" pitchFamily="34" charset="-120"/>
              </a:rPr>
              <a:t>Meyer et al. Genetic and functional insights into the fractal structure of the heart. Nature 2020. doi:10.1038/s41586-020-2635-8</a:t>
            </a:r>
            <a:endParaRPr lang="en-US" sz="1200" dirty="0"/>
          </a:p>
        </p:txBody>
      </p:sp>
      <p:sp>
        <p:nvSpPr>
          <p:cNvPr id="4" name="references text"/>
          <p:cNvSpPr txBox="1"/>
          <p:nvPr/>
        </p:nvSpPr>
        <p:spPr>
          <a:xfrm>
            <a:off x="6273800" y="1483320"/>
            <a:ext cx="5258562" cy="642441"/>
          </a:xfrm>
          <a:prstGeom prst="rect">
            <a:avLst/>
          </a:prstGeom>
          <a:noFill/>
          <a:ln/>
        </p:spPr>
        <p:txBody>
          <a:bodyPr wrap="square" lIns="0" tIns="0" rIns="0" bIns="0" rtlCol="0" anchor="t"/>
          <a:lstStyle/>
          <a:p>
            <a:pPr algn="l" indent="0" marL="0">
              <a:lnSpc>
                <a:spcPts val="1620"/>
              </a:lnSpc>
              <a:buNone/>
            </a:pPr>
            <a:r>
              <a:rPr lang="en-US" sz="1200" dirty="0">
                <a:solidFill>
                  <a:srgbClr val="000000"/>
                </a:solidFill>
                <a:latin typeface="Times New Roman" pitchFamily="34" charset="0"/>
                <a:ea typeface="Times New Roman" pitchFamily="34" charset="-122"/>
                <a:cs typeface="Times New Roman" pitchFamily="34" charset="-120"/>
              </a:rPr>
              <a:t>Sacco et al. LV trabeculations decrease wall shear stress and increase the intraventricular pressure drop in CFD simulations. Front Physiol 2018. doi:10.3389/fphys.2018.00458</a:t>
            </a:r>
            <a:endParaRPr lang="en-US" sz="1200" dirty="0"/>
          </a:p>
        </p:txBody>
      </p:sp>
      <p:sp>
        <p:nvSpPr>
          <p:cNvPr id="5" name="references text"/>
          <p:cNvSpPr txBox="1"/>
          <p:nvPr/>
        </p:nvSpPr>
        <p:spPr>
          <a:xfrm>
            <a:off x="812800" y="2227362"/>
            <a:ext cx="5258562" cy="436761"/>
          </a:xfrm>
          <a:prstGeom prst="rect">
            <a:avLst/>
          </a:prstGeom>
          <a:noFill/>
          <a:ln/>
        </p:spPr>
        <p:txBody>
          <a:bodyPr wrap="square" lIns="0" tIns="0" rIns="0" bIns="0" rtlCol="0" anchor="t"/>
          <a:lstStyle/>
          <a:p>
            <a:pPr algn="l" indent="0" marL="0">
              <a:lnSpc>
                <a:spcPts val="1620"/>
              </a:lnSpc>
              <a:buNone/>
            </a:pPr>
            <a:r>
              <a:rPr lang="en-US" sz="1200" dirty="0">
                <a:solidFill>
                  <a:srgbClr val="000000"/>
                </a:solidFill>
                <a:latin typeface="Times New Roman" pitchFamily="34" charset="0"/>
                <a:ea typeface="Times New Roman" pitchFamily="34" charset="-122"/>
                <a:cs typeface="Times New Roman" pitchFamily="34" charset="-120"/>
              </a:rPr>
              <a:t>Sacco et al. Roles of detailed endocardial structures on right ventricular haemodynamics. Int J Numer Method Biomed Eng 2018. doi:10.1002/cnm.3115</a:t>
            </a:r>
            <a:endParaRPr lang="en-US" sz="1200" dirty="0"/>
          </a:p>
        </p:txBody>
      </p:sp>
      <p:sp>
        <p:nvSpPr>
          <p:cNvPr id="6" name="references text"/>
          <p:cNvSpPr txBox="1"/>
          <p:nvPr/>
        </p:nvSpPr>
        <p:spPr>
          <a:xfrm>
            <a:off x="6273800" y="2227362"/>
            <a:ext cx="5258562" cy="436761"/>
          </a:xfrm>
          <a:prstGeom prst="rect">
            <a:avLst/>
          </a:prstGeom>
          <a:noFill/>
          <a:ln/>
        </p:spPr>
        <p:txBody>
          <a:bodyPr wrap="square" lIns="0" tIns="0" rIns="0" bIns="0" rtlCol="0" anchor="t"/>
          <a:lstStyle/>
          <a:p>
            <a:pPr algn="l" indent="0" marL="0">
              <a:lnSpc>
                <a:spcPts val="1620"/>
              </a:lnSpc>
              <a:buNone/>
            </a:pPr>
            <a:r>
              <a:rPr lang="en-US" sz="1200" dirty="0">
                <a:solidFill>
                  <a:srgbClr val="000000"/>
                </a:solidFill>
                <a:latin typeface="Times New Roman" pitchFamily="34" charset="0"/>
                <a:ea typeface="Times New Roman" pitchFamily="34" charset="-122"/>
                <a:cs typeface="Times New Roman" pitchFamily="34" charset="-120"/>
              </a:rPr>
              <a:t>Lantz et al. Patient specific simulation of cardiac blood flow from high resolution CT. J Biomech Eng 2016. doi:10.1115/1.4034652</a:t>
            </a:r>
            <a:endParaRPr lang="en-US" sz="1200" dirty="0"/>
          </a:p>
        </p:txBody>
      </p:sp>
      <p:sp>
        <p:nvSpPr>
          <p:cNvPr id="7" name="references text"/>
          <p:cNvSpPr txBox="1"/>
          <p:nvPr/>
        </p:nvSpPr>
        <p:spPr>
          <a:xfrm>
            <a:off x="812800" y="2765723"/>
            <a:ext cx="5258562" cy="436761"/>
          </a:xfrm>
          <a:prstGeom prst="rect">
            <a:avLst/>
          </a:prstGeom>
          <a:noFill/>
          <a:ln/>
        </p:spPr>
        <p:txBody>
          <a:bodyPr wrap="square" lIns="0" tIns="0" rIns="0" bIns="0" rtlCol="0" anchor="t"/>
          <a:lstStyle/>
          <a:p>
            <a:pPr algn="l" indent="0" marL="0">
              <a:lnSpc>
                <a:spcPts val="1620"/>
              </a:lnSpc>
              <a:buNone/>
            </a:pPr>
            <a:r>
              <a:rPr lang="en-US" sz="1200" dirty="0">
                <a:solidFill>
                  <a:srgbClr val="000000"/>
                </a:solidFill>
                <a:latin typeface="Times New Roman" pitchFamily="34" charset="0"/>
                <a:ea typeface="Times New Roman" pitchFamily="34" charset="-122"/>
                <a:cs typeface="Times New Roman" pitchFamily="34" charset="-120"/>
              </a:rPr>
              <a:t>Kulp et al. Patient specific interactions between trabeculae and blood flow. MICCAI 2011. doi:10.1007/978-3-642-23623-5_59</a:t>
            </a:r>
            <a:endParaRPr lang="en-US" sz="1200" dirty="0"/>
          </a:p>
        </p:txBody>
      </p:sp>
      <p:sp>
        <p:nvSpPr>
          <p:cNvPr id="8" name="references text"/>
          <p:cNvSpPr txBox="1"/>
          <p:nvPr/>
        </p:nvSpPr>
        <p:spPr>
          <a:xfrm>
            <a:off x="6273800" y="2765723"/>
            <a:ext cx="5258562" cy="436761"/>
          </a:xfrm>
          <a:prstGeom prst="rect">
            <a:avLst/>
          </a:prstGeom>
          <a:noFill/>
          <a:ln/>
        </p:spPr>
        <p:txBody>
          <a:bodyPr wrap="square" lIns="0" tIns="0" rIns="0" bIns="0" rtlCol="0" anchor="t"/>
          <a:lstStyle/>
          <a:p>
            <a:pPr algn="l" indent="0" marL="0">
              <a:lnSpc>
                <a:spcPts val="1620"/>
              </a:lnSpc>
              <a:buNone/>
            </a:pPr>
            <a:r>
              <a:rPr lang="en-US" sz="1200" dirty="0">
                <a:solidFill>
                  <a:srgbClr val="000000"/>
                </a:solidFill>
                <a:latin typeface="Times New Roman" pitchFamily="34" charset="0"/>
                <a:ea typeface="Times New Roman" pitchFamily="34" charset="-122"/>
                <a:cs typeface="Times New Roman" pitchFamily="34" charset="-120"/>
              </a:rPr>
              <a:t>Paun et al. Relationship between LV size and the amount of trabeculations. Int J Numer Method Biomed Eng 2018. doi:10.1002/cnm.2939</a:t>
            </a:r>
            <a:endParaRPr lang="en-US" sz="1200" dirty="0"/>
          </a:p>
        </p:txBody>
      </p:sp>
      <p:sp>
        <p:nvSpPr>
          <p:cNvPr id="9" name="references text"/>
          <p:cNvSpPr txBox="1"/>
          <p:nvPr/>
        </p:nvSpPr>
        <p:spPr>
          <a:xfrm>
            <a:off x="812800" y="3304084"/>
            <a:ext cx="5258562" cy="436761"/>
          </a:xfrm>
          <a:prstGeom prst="rect">
            <a:avLst/>
          </a:prstGeom>
          <a:noFill/>
          <a:ln/>
        </p:spPr>
        <p:txBody>
          <a:bodyPr wrap="square" lIns="0" tIns="0" rIns="0" bIns="0" rtlCol="0" anchor="t"/>
          <a:lstStyle/>
          <a:p>
            <a:pPr algn="l" indent="0" marL="0">
              <a:lnSpc>
                <a:spcPts val="1620"/>
              </a:lnSpc>
              <a:buNone/>
            </a:pPr>
            <a:r>
              <a:rPr lang="en-US" sz="1200" dirty="0">
                <a:solidFill>
                  <a:srgbClr val="000000"/>
                </a:solidFill>
                <a:latin typeface="Times New Roman" pitchFamily="34" charset="0"/>
                <a:ea typeface="Times New Roman" pitchFamily="34" charset="-122"/>
                <a:cs typeface="Times New Roman" pitchFamily="34" charset="-120"/>
              </a:rPr>
              <a:t>Morud et al. The effect of chordae tendineae on systolic flow. Comput Biol Med 2019. doi:10.1016/j.compbiomed.2019.04.020</a:t>
            </a:r>
            <a:endParaRPr lang="en-US" sz="1200" dirty="0"/>
          </a:p>
        </p:txBody>
      </p:sp>
      <p:sp>
        <p:nvSpPr>
          <p:cNvPr id="10" name="references text"/>
          <p:cNvSpPr txBox="1"/>
          <p:nvPr/>
        </p:nvSpPr>
        <p:spPr>
          <a:xfrm>
            <a:off x="6273800" y="3304084"/>
            <a:ext cx="5258562" cy="436761"/>
          </a:xfrm>
          <a:prstGeom prst="rect">
            <a:avLst/>
          </a:prstGeom>
          <a:noFill/>
          <a:ln/>
        </p:spPr>
        <p:txBody>
          <a:bodyPr wrap="square" lIns="0" tIns="0" rIns="0" bIns="0" rtlCol="0" anchor="t"/>
          <a:lstStyle/>
          <a:p>
            <a:pPr algn="l" indent="0" marL="0">
              <a:lnSpc>
                <a:spcPts val="1620"/>
              </a:lnSpc>
              <a:buNone/>
            </a:pPr>
            <a:r>
              <a:rPr lang="en-US" sz="1200" dirty="0">
                <a:solidFill>
                  <a:srgbClr val="000000"/>
                </a:solidFill>
                <a:latin typeface="Times New Roman" pitchFamily="34" charset="0"/>
                <a:ea typeface="Times New Roman" pitchFamily="34" charset="-122"/>
                <a:cs typeface="Times New Roman" pitchFamily="34" charset="-120"/>
              </a:rPr>
              <a:t>Vedula et al. Mechanobiologic forces in zebrafish cardiac development. PLoS Comput Biol 2017. doi:10.1371/journal.pcbi.1005828</a:t>
            </a:r>
            <a:endParaRPr lang="en-US" sz="1200" dirty="0"/>
          </a:p>
        </p:txBody>
      </p:sp>
      <p:sp>
        <p:nvSpPr>
          <p:cNvPr id="11" name="references text"/>
          <p:cNvSpPr txBox="1"/>
          <p:nvPr/>
        </p:nvSpPr>
        <p:spPr>
          <a:xfrm>
            <a:off x="812800" y="3842445"/>
            <a:ext cx="5258562" cy="436761"/>
          </a:xfrm>
          <a:prstGeom prst="rect">
            <a:avLst/>
          </a:prstGeom>
          <a:noFill/>
          <a:ln/>
        </p:spPr>
        <p:txBody>
          <a:bodyPr wrap="square" lIns="0" tIns="0" rIns="0" bIns="0" rtlCol="0" anchor="t"/>
          <a:lstStyle/>
          <a:p>
            <a:pPr algn="l" indent="0" marL="0">
              <a:lnSpc>
                <a:spcPts val="1620"/>
              </a:lnSpc>
              <a:buNone/>
            </a:pPr>
            <a:r>
              <a:rPr lang="en-US" sz="1200" dirty="0">
                <a:solidFill>
                  <a:srgbClr val="000000"/>
                </a:solidFill>
                <a:latin typeface="Times New Roman" pitchFamily="34" charset="0"/>
                <a:ea typeface="Times New Roman" pitchFamily="34" charset="-122"/>
                <a:cs typeface="Times New Roman" pitchFamily="34" charset="-120"/>
              </a:rPr>
              <a:t>Lee et al. Hemodynamic forces initiate cardiac trabeculation. JCI Insight 2018. doi:10.1172/jci.insight.96672</a:t>
            </a:r>
            <a:endParaRPr lang="en-US" sz="1200" dirty="0"/>
          </a:p>
        </p:txBody>
      </p:sp>
      <p:sp>
        <p:nvSpPr>
          <p:cNvPr id="12" name="references text"/>
          <p:cNvSpPr txBox="1"/>
          <p:nvPr/>
        </p:nvSpPr>
        <p:spPr>
          <a:xfrm>
            <a:off x="6273800" y="3842445"/>
            <a:ext cx="5258562" cy="436761"/>
          </a:xfrm>
          <a:prstGeom prst="rect">
            <a:avLst/>
          </a:prstGeom>
          <a:noFill/>
          <a:ln/>
        </p:spPr>
        <p:txBody>
          <a:bodyPr wrap="square" lIns="0" tIns="0" rIns="0" bIns="0" rtlCol="0" anchor="t"/>
          <a:lstStyle/>
          <a:p>
            <a:pPr algn="l" indent="0" marL="0">
              <a:lnSpc>
                <a:spcPts val="1620"/>
              </a:lnSpc>
              <a:buNone/>
            </a:pPr>
            <a:r>
              <a:rPr lang="en-US" sz="1200" dirty="0">
                <a:solidFill>
                  <a:srgbClr val="000000"/>
                </a:solidFill>
                <a:latin typeface="Times New Roman" pitchFamily="34" charset="0"/>
                <a:ea typeface="Times New Roman" pitchFamily="34" charset="-122"/>
                <a:cs typeface="Times New Roman" pitchFamily="34" charset="-120"/>
              </a:rPr>
              <a:t>Battista et al. Fluid dynamics in heart development: hematocrit and trabeculation. Math Med Biol 2018. doi:10.1093/imammb/dqx018</a:t>
            </a:r>
            <a:endParaRPr lang="en-US" sz="1200" dirty="0"/>
          </a:p>
        </p:txBody>
      </p:sp>
      <p:sp>
        <p:nvSpPr>
          <p:cNvPr id="13" name="references text"/>
          <p:cNvSpPr txBox="1"/>
          <p:nvPr/>
        </p:nvSpPr>
        <p:spPr>
          <a:xfrm>
            <a:off x="812800" y="4380805"/>
            <a:ext cx="5258562" cy="436761"/>
          </a:xfrm>
          <a:prstGeom prst="rect">
            <a:avLst/>
          </a:prstGeom>
          <a:noFill/>
          <a:ln/>
        </p:spPr>
        <p:txBody>
          <a:bodyPr wrap="square" lIns="0" tIns="0" rIns="0" bIns="0" rtlCol="0" anchor="t"/>
          <a:lstStyle/>
          <a:p>
            <a:pPr algn="l" indent="0" marL="0">
              <a:lnSpc>
                <a:spcPts val="1620"/>
              </a:lnSpc>
              <a:buNone/>
            </a:pPr>
            <a:r>
              <a:rPr lang="en-US" sz="1200" dirty="0">
                <a:solidFill>
                  <a:srgbClr val="000000"/>
                </a:solidFill>
                <a:latin typeface="Times New Roman" pitchFamily="34" charset="0"/>
                <a:ea typeface="Times New Roman" pitchFamily="34" charset="-122"/>
                <a:cs typeface="Times New Roman" pitchFamily="34" charset="-120"/>
              </a:rPr>
              <a:t>Visoiu et al. How the trabecular layer impacts on LV function. J Cardiol 2024. doi:10.1016/j.jjcc.2024.08.008</a:t>
            </a:r>
            <a:endParaRPr lang="en-US" sz="1200" dirty="0"/>
          </a:p>
        </p:txBody>
      </p:sp>
      <p:sp>
        <p:nvSpPr>
          <p:cNvPr id="14" name="references text"/>
          <p:cNvSpPr txBox="1"/>
          <p:nvPr/>
        </p:nvSpPr>
        <p:spPr>
          <a:xfrm>
            <a:off x="6273800" y="4380805"/>
            <a:ext cx="5258562" cy="436761"/>
          </a:xfrm>
          <a:prstGeom prst="rect">
            <a:avLst/>
          </a:prstGeom>
          <a:noFill/>
          <a:ln/>
        </p:spPr>
        <p:txBody>
          <a:bodyPr wrap="square" lIns="0" tIns="0" rIns="0" bIns="0" rtlCol="0" anchor="t"/>
          <a:lstStyle/>
          <a:p>
            <a:pPr algn="l" indent="0" marL="0">
              <a:lnSpc>
                <a:spcPts val="1620"/>
              </a:lnSpc>
              <a:buNone/>
            </a:pPr>
            <a:r>
              <a:rPr lang="en-US" sz="1200" dirty="0">
                <a:solidFill>
                  <a:srgbClr val="000000"/>
                </a:solidFill>
                <a:latin typeface="Times New Roman" pitchFamily="34" charset="0"/>
                <a:ea typeface="Times New Roman" pitchFamily="34" charset="-122"/>
                <a:cs typeface="Times New Roman" pitchFamily="34" charset="-120"/>
              </a:rPr>
              <a:t>Petersen et al. Excessive trabeculation of the left ventricle. JACC Cardiovasc Imaging 2023. doi:10.1016/j.jcmg.2022.12.026</a:t>
            </a:r>
            <a:endParaRPr lang="en-US" sz="1200" dirty="0"/>
          </a:p>
        </p:txBody>
      </p:sp>
      <p:sp>
        <p:nvSpPr>
          <p:cNvPr id="15" name="references text"/>
          <p:cNvSpPr txBox="1"/>
          <p:nvPr/>
        </p:nvSpPr>
        <p:spPr>
          <a:xfrm>
            <a:off x="812800" y="6280150"/>
            <a:ext cx="10566400" cy="196850"/>
          </a:xfrm>
          <a:prstGeom prst="rect">
            <a:avLst/>
          </a:prstGeom>
          <a:noFill/>
          <a:ln/>
        </p:spPr>
        <p:txBody>
          <a:bodyPr wrap="square" lIns="0" tIns="0" rIns="0" bIns="0" rtlCol="0" anchor="t"/>
          <a:lstStyle/>
          <a:p>
            <a:pPr algn="l" indent="0" marL="0">
              <a:lnSpc>
                <a:spcPts val="1380"/>
              </a:lnSpc>
              <a:buNone/>
            </a:pPr>
            <a:r>
              <a:rPr lang="en-US" sz="1200" dirty="0">
                <a:solidFill>
                  <a:srgbClr val="000000"/>
                </a:solidFill>
                <a:latin typeface="Times New Roman" pitchFamily="34" charset="0"/>
                <a:ea typeface="Times New Roman" pitchFamily="34" charset="-122"/>
                <a:cs typeface="Times New Roman" pitchFamily="34" charset="-120"/>
              </a:rPr>
              <a:t>22 · Retrieved from PubMed; code and results: github.com/thomas-chia/heart-trabeculae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Trabeculae and Apical Suction</dc:title>
  <dc:subject>PptxGenJS Presentation</dc:subject>
  <dc:creator>Thomas Chia</dc:creator>
  <cp:lastModifiedBy>Thomas Chia</cp:lastModifiedBy>
  <cp:revision>1</cp:revision>
  <dcterms:created xsi:type="dcterms:W3CDTF">2026-10-27T16:22:04Z</dcterms:created>
  <dcterms:modified xsi:type="dcterms:W3CDTF">2026-10-27T16:22:04Z</dcterms:modified>
</cp:coreProperties>
</file>